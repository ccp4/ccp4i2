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–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24"/>
    <p:restoredTop sz="94661"/>
  </p:normalViewPr>
  <p:slideViewPr>
    <p:cSldViewPr snapToGrid="0" snapToObjects="1">
      <p:cViewPr varScale="1">
        <p:scale>
          <a:sx n="125" d="100"/>
          <a:sy n="125" d="100"/>
        </p:scale>
        <p:origin x="160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E8664E9-A00C-46AB-B72A-4A79CA92B268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745484A-6D00-4682-BB98-0C02C9EC3AA2}">
      <dgm:prSet/>
      <dgm:spPr/>
      <dgm:t>
        <a:bodyPr/>
        <a:lstStyle/>
        <a:p>
          <a:pPr>
            <a:defRPr cap="all"/>
          </a:pPr>
          <a:r>
            <a:rPr lang="en-US"/>
            <a:t>• Legacy Qt architecture: tightly-coupled GUI + database + business logic</a:t>
          </a:r>
        </a:p>
      </dgm:t>
    </dgm:pt>
    <dgm:pt modelId="{456B4E0F-ADE4-4AC0-A7CD-B5F882F5E29F}" type="parTrans" cxnId="{3F2D9A5F-9E85-44E7-8F42-7410F88779D7}">
      <dgm:prSet/>
      <dgm:spPr/>
      <dgm:t>
        <a:bodyPr/>
        <a:lstStyle/>
        <a:p>
          <a:endParaRPr lang="en-US"/>
        </a:p>
      </dgm:t>
    </dgm:pt>
    <dgm:pt modelId="{3A14BCD5-7B70-4C59-86BC-77C1A0C1FA92}" type="sibTrans" cxnId="{3F2D9A5F-9E85-44E7-8F42-7410F88779D7}">
      <dgm:prSet/>
      <dgm:spPr/>
      <dgm:t>
        <a:bodyPr/>
        <a:lstStyle/>
        <a:p>
          <a:endParaRPr lang="en-US"/>
        </a:p>
      </dgm:t>
    </dgm:pt>
    <dgm:pt modelId="{CC411CB5-48C8-4921-8601-06C695B70480}">
      <dgm:prSet/>
      <dgm:spPr/>
      <dgm:t>
        <a:bodyPr/>
        <a:lstStyle/>
        <a:p>
          <a:pPr>
            <a:defRPr cap="all"/>
          </a:pPr>
          <a:r>
            <a:rPr lang="en-US"/>
            <a:t>• PySide2/Qt bindings increasingly difficult to maintain</a:t>
          </a:r>
        </a:p>
      </dgm:t>
    </dgm:pt>
    <dgm:pt modelId="{4000F5B9-5758-471A-A5E0-FB02D6709914}" type="parTrans" cxnId="{DACE6831-A35D-443A-AD9B-C13376D2BFFE}">
      <dgm:prSet/>
      <dgm:spPr/>
      <dgm:t>
        <a:bodyPr/>
        <a:lstStyle/>
        <a:p>
          <a:endParaRPr lang="en-US"/>
        </a:p>
      </dgm:t>
    </dgm:pt>
    <dgm:pt modelId="{21E443BB-CDCB-41DD-B9C8-6C05BA7DB43D}" type="sibTrans" cxnId="{DACE6831-A35D-443A-AD9B-C13376D2BFFE}">
      <dgm:prSet/>
      <dgm:spPr/>
      <dgm:t>
        <a:bodyPr/>
        <a:lstStyle/>
        <a:p>
          <a:endParaRPr lang="en-US"/>
        </a:p>
      </dgm:t>
    </dgm:pt>
    <dgm:pt modelId="{6A358C40-6562-4B0D-A287-7078D52D5E41}">
      <dgm:prSet/>
      <dgm:spPr/>
      <dgm:t>
        <a:bodyPr/>
        <a:lstStyle/>
        <a:p>
          <a:pPr>
            <a:defRPr cap="all"/>
          </a:pPr>
          <a:r>
            <a:rPr lang="en-US"/>
            <a:t>• Procedural GUI code hard to test, extend, and onboard new developers</a:t>
          </a:r>
        </a:p>
      </dgm:t>
    </dgm:pt>
    <dgm:pt modelId="{3E45AF53-840A-4FFF-9B03-7E1D30F8C693}" type="parTrans" cxnId="{A317354C-FA35-496B-91E6-C91DB0FF40BB}">
      <dgm:prSet/>
      <dgm:spPr/>
      <dgm:t>
        <a:bodyPr/>
        <a:lstStyle/>
        <a:p>
          <a:endParaRPr lang="en-US"/>
        </a:p>
      </dgm:t>
    </dgm:pt>
    <dgm:pt modelId="{34D6ABC5-2BFC-47F0-BDE7-E07D0B43BEA7}" type="sibTrans" cxnId="{A317354C-FA35-496B-91E6-C91DB0FF40BB}">
      <dgm:prSet/>
      <dgm:spPr/>
      <dgm:t>
        <a:bodyPr/>
        <a:lstStyle/>
        <a:p>
          <a:endParaRPr lang="en-US"/>
        </a:p>
      </dgm:t>
    </dgm:pt>
    <dgm:pt modelId="{F4565367-3807-4CAF-A46C-A57A4F8F810C}">
      <dgm:prSet/>
      <dgm:spPr/>
      <dgm:t>
        <a:bodyPr/>
        <a:lstStyle/>
        <a:p>
          <a:pPr>
            <a:defRPr cap="all"/>
          </a:pPr>
          <a:r>
            <a:rPr lang="en-US"/>
            <a:t>• 10+ years of crystallographic wrappers &amp; pipelines to preserve</a:t>
          </a:r>
        </a:p>
      </dgm:t>
    </dgm:pt>
    <dgm:pt modelId="{3AC61AD7-345F-475A-85A0-14A1E3E4F755}" type="parTrans" cxnId="{51F710F2-6F79-482D-9C69-B623C92D14AD}">
      <dgm:prSet/>
      <dgm:spPr/>
      <dgm:t>
        <a:bodyPr/>
        <a:lstStyle/>
        <a:p>
          <a:endParaRPr lang="en-US"/>
        </a:p>
      </dgm:t>
    </dgm:pt>
    <dgm:pt modelId="{A5C77FFB-F317-428A-801C-7752FF5E41C2}" type="sibTrans" cxnId="{51F710F2-6F79-482D-9C69-B623C92D14AD}">
      <dgm:prSet/>
      <dgm:spPr/>
      <dgm:t>
        <a:bodyPr/>
        <a:lstStyle/>
        <a:p>
          <a:endParaRPr lang="en-US"/>
        </a:p>
      </dgm:t>
    </dgm:pt>
    <dgm:pt modelId="{1B95C5B6-6C37-4416-83FE-FB21D41EE1AD}">
      <dgm:prSet/>
      <dgm:spPr/>
      <dgm:t>
        <a:bodyPr/>
        <a:lstStyle/>
        <a:p>
          <a:pPr>
            <a:defRPr cap="all"/>
          </a:pPr>
          <a:r>
            <a:rPr lang="en-US"/>
            <a:t>• KEY GOAL: Reduce long-term support burden while serving existing users</a:t>
          </a:r>
        </a:p>
      </dgm:t>
    </dgm:pt>
    <dgm:pt modelId="{FA370E69-2826-43AA-ABBB-2B37F1201143}" type="parTrans" cxnId="{E5082D2A-65B8-4F34-BE3F-AFD590CB1ED2}">
      <dgm:prSet/>
      <dgm:spPr/>
      <dgm:t>
        <a:bodyPr/>
        <a:lstStyle/>
        <a:p>
          <a:endParaRPr lang="en-US"/>
        </a:p>
      </dgm:t>
    </dgm:pt>
    <dgm:pt modelId="{6477E4EF-685D-42A2-922D-0DE084A5CAD3}" type="sibTrans" cxnId="{E5082D2A-65B8-4F34-BE3F-AFD590CB1ED2}">
      <dgm:prSet/>
      <dgm:spPr/>
      <dgm:t>
        <a:bodyPr/>
        <a:lstStyle/>
        <a:p>
          <a:endParaRPr lang="en-US"/>
        </a:p>
      </dgm:t>
    </dgm:pt>
    <dgm:pt modelId="{D3F28626-4E05-4F3B-BEDA-2B0FBB2E8656}" type="pres">
      <dgm:prSet presAssocID="{8E8664E9-A00C-46AB-B72A-4A79CA92B268}" presName="root" presStyleCnt="0">
        <dgm:presLayoutVars>
          <dgm:dir/>
          <dgm:resizeHandles val="exact"/>
        </dgm:presLayoutVars>
      </dgm:prSet>
      <dgm:spPr/>
    </dgm:pt>
    <dgm:pt modelId="{5DDD9219-2938-4C9C-81A9-845081D87E6B}" type="pres">
      <dgm:prSet presAssocID="{9745484A-6D00-4682-BB98-0C02C9EC3AA2}" presName="compNode" presStyleCnt="0"/>
      <dgm:spPr/>
    </dgm:pt>
    <dgm:pt modelId="{D4A15087-CA2B-458D-AA69-7FB7A0FBBE7E}" type="pres">
      <dgm:prSet presAssocID="{9745484A-6D00-4682-BB98-0C02C9EC3AA2}" presName="iconBgRect" presStyleLbl="bgShp" presStyleIdx="0" presStyleCnt="5"/>
      <dgm:spPr/>
    </dgm:pt>
    <dgm:pt modelId="{884DA11C-8F3E-4432-8CEA-7CD200B2AD53}" type="pres">
      <dgm:prSet presAssocID="{9745484A-6D00-4682-BB98-0C02C9EC3AA2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5731913F-FB18-4FFE-91B0-D803A6CB6CD1}" type="pres">
      <dgm:prSet presAssocID="{9745484A-6D00-4682-BB98-0C02C9EC3AA2}" presName="spaceRect" presStyleCnt="0"/>
      <dgm:spPr/>
    </dgm:pt>
    <dgm:pt modelId="{3FC7070F-3466-45DE-A5CB-F4ADB32C0A8C}" type="pres">
      <dgm:prSet presAssocID="{9745484A-6D00-4682-BB98-0C02C9EC3AA2}" presName="textRect" presStyleLbl="revTx" presStyleIdx="0" presStyleCnt="5">
        <dgm:presLayoutVars>
          <dgm:chMax val="1"/>
          <dgm:chPref val="1"/>
        </dgm:presLayoutVars>
      </dgm:prSet>
      <dgm:spPr/>
    </dgm:pt>
    <dgm:pt modelId="{EF1309B7-926E-41BE-BBB0-399CD2741CCA}" type="pres">
      <dgm:prSet presAssocID="{3A14BCD5-7B70-4C59-86BC-77C1A0C1FA92}" presName="sibTrans" presStyleCnt="0"/>
      <dgm:spPr/>
    </dgm:pt>
    <dgm:pt modelId="{62F89ABB-DCF5-46F2-A5BE-DB6835A1BFE9}" type="pres">
      <dgm:prSet presAssocID="{CC411CB5-48C8-4921-8601-06C695B70480}" presName="compNode" presStyleCnt="0"/>
      <dgm:spPr/>
    </dgm:pt>
    <dgm:pt modelId="{A228B6CE-C649-4A32-8A98-99AB8342B898}" type="pres">
      <dgm:prSet presAssocID="{CC411CB5-48C8-4921-8601-06C695B70480}" presName="iconBgRect" presStyleLbl="bgShp" presStyleIdx="1" presStyleCnt="5"/>
      <dgm:spPr/>
    </dgm:pt>
    <dgm:pt modelId="{E2620798-ECEA-4C69-B54E-1F584F74BBDD}" type="pres">
      <dgm:prSet presAssocID="{CC411CB5-48C8-4921-8601-06C695B70480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 Sign"/>
        </a:ext>
      </dgm:extLst>
    </dgm:pt>
    <dgm:pt modelId="{ED4D718B-8B04-44F8-9AEA-70A36FA42105}" type="pres">
      <dgm:prSet presAssocID="{CC411CB5-48C8-4921-8601-06C695B70480}" presName="spaceRect" presStyleCnt="0"/>
      <dgm:spPr/>
    </dgm:pt>
    <dgm:pt modelId="{FE4BE8CF-2DB5-4423-9E11-6700C942381E}" type="pres">
      <dgm:prSet presAssocID="{CC411CB5-48C8-4921-8601-06C695B70480}" presName="textRect" presStyleLbl="revTx" presStyleIdx="1" presStyleCnt="5">
        <dgm:presLayoutVars>
          <dgm:chMax val="1"/>
          <dgm:chPref val="1"/>
        </dgm:presLayoutVars>
      </dgm:prSet>
      <dgm:spPr/>
    </dgm:pt>
    <dgm:pt modelId="{99FBB310-62B8-4ED9-86FD-D92CFC455CDB}" type="pres">
      <dgm:prSet presAssocID="{21E443BB-CDCB-41DD-B9C8-6C05BA7DB43D}" presName="sibTrans" presStyleCnt="0"/>
      <dgm:spPr/>
    </dgm:pt>
    <dgm:pt modelId="{07F2A837-0F9E-4148-9FF4-60ABE9F318F5}" type="pres">
      <dgm:prSet presAssocID="{6A358C40-6562-4B0D-A287-7078D52D5E41}" presName="compNode" presStyleCnt="0"/>
      <dgm:spPr/>
    </dgm:pt>
    <dgm:pt modelId="{F100D1FA-0D52-4E50-B039-9CD4F6268515}" type="pres">
      <dgm:prSet presAssocID="{6A358C40-6562-4B0D-A287-7078D52D5E41}" presName="iconBgRect" presStyleLbl="bgShp" presStyleIdx="2" presStyleCnt="5"/>
      <dgm:spPr/>
    </dgm:pt>
    <dgm:pt modelId="{C20DAB67-4014-47F3-8198-86633716F3E6}" type="pres">
      <dgm:prSet presAssocID="{6A358C40-6562-4B0D-A287-7078D52D5E4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44D48121-2201-4D46-81F6-21452DA945D4}" type="pres">
      <dgm:prSet presAssocID="{6A358C40-6562-4B0D-A287-7078D52D5E41}" presName="spaceRect" presStyleCnt="0"/>
      <dgm:spPr/>
    </dgm:pt>
    <dgm:pt modelId="{96288A71-F861-467D-865A-AD1FD8F9F1D4}" type="pres">
      <dgm:prSet presAssocID="{6A358C40-6562-4B0D-A287-7078D52D5E41}" presName="textRect" presStyleLbl="revTx" presStyleIdx="2" presStyleCnt="5">
        <dgm:presLayoutVars>
          <dgm:chMax val="1"/>
          <dgm:chPref val="1"/>
        </dgm:presLayoutVars>
      </dgm:prSet>
      <dgm:spPr/>
    </dgm:pt>
    <dgm:pt modelId="{149C4E1D-D180-4A01-9C3A-E7021DCFEF04}" type="pres">
      <dgm:prSet presAssocID="{34D6ABC5-2BFC-47F0-BDE7-E07D0B43BEA7}" presName="sibTrans" presStyleCnt="0"/>
      <dgm:spPr/>
    </dgm:pt>
    <dgm:pt modelId="{EC7A16CF-1AE7-430B-953D-F213DECC572B}" type="pres">
      <dgm:prSet presAssocID="{F4565367-3807-4CAF-A46C-A57A4F8F810C}" presName="compNode" presStyleCnt="0"/>
      <dgm:spPr/>
    </dgm:pt>
    <dgm:pt modelId="{85340B83-2183-4453-AA01-D5EE9FC3949C}" type="pres">
      <dgm:prSet presAssocID="{F4565367-3807-4CAF-A46C-A57A4F8F810C}" presName="iconBgRect" presStyleLbl="bgShp" presStyleIdx="3" presStyleCnt="5"/>
      <dgm:spPr/>
    </dgm:pt>
    <dgm:pt modelId="{ED9A7046-87E1-4B84-A37B-1C550F249A67}" type="pres">
      <dgm:prSet presAssocID="{F4565367-3807-4CAF-A46C-A57A4F8F810C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ning Tools"/>
        </a:ext>
      </dgm:extLst>
    </dgm:pt>
    <dgm:pt modelId="{75413C71-89D6-41B5-B69E-346389F4F54F}" type="pres">
      <dgm:prSet presAssocID="{F4565367-3807-4CAF-A46C-A57A4F8F810C}" presName="spaceRect" presStyleCnt="0"/>
      <dgm:spPr/>
    </dgm:pt>
    <dgm:pt modelId="{701DB707-60AB-4F48-AC8A-192E76893D45}" type="pres">
      <dgm:prSet presAssocID="{F4565367-3807-4CAF-A46C-A57A4F8F810C}" presName="textRect" presStyleLbl="revTx" presStyleIdx="3" presStyleCnt="5">
        <dgm:presLayoutVars>
          <dgm:chMax val="1"/>
          <dgm:chPref val="1"/>
        </dgm:presLayoutVars>
      </dgm:prSet>
      <dgm:spPr/>
    </dgm:pt>
    <dgm:pt modelId="{F46483B6-EB70-44A9-975C-71504163801D}" type="pres">
      <dgm:prSet presAssocID="{A5C77FFB-F317-428A-801C-7752FF5E41C2}" presName="sibTrans" presStyleCnt="0"/>
      <dgm:spPr/>
    </dgm:pt>
    <dgm:pt modelId="{41DE016C-AFA5-4964-B94A-84B5DC781266}" type="pres">
      <dgm:prSet presAssocID="{1B95C5B6-6C37-4416-83FE-FB21D41EE1AD}" presName="compNode" presStyleCnt="0"/>
      <dgm:spPr/>
    </dgm:pt>
    <dgm:pt modelId="{7EF834F5-6611-4C4E-8B83-D66765B25C0E}" type="pres">
      <dgm:prSet presAssocID="{1B95C5B6-6C37-4416-83FE-FB21D41EE1AD}" presName="iconBgRect" presStyleLbl="bgShp" presStyleIdx="4" presStyleCnt="5"/>
      <dgm:spPr/>
    </dgm:pt>
    <dgm:pt modelId="{442936B3-3DA3-483F-BDF2-991DC92A34AE}" type="pres">
      <dgm:prSet presAssocID="{1B95C5B6-6C37-4416-83FE-FB21D41EE1AD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1D74B8D7-5516-4AD2-9398-6A3EAC56F1CF}" type="pres">
      <dgm:prSet presAssocID="{1B95C5B6-6C37-4416-83FE-FB21D41EE1AD}" presName="spaceRect" presStyleCnt="0"/>
      <dgm:spPr/>
    </dgm:pt>
    <dgm:pt modelId="{6E5DE71F-2B1E-47B8-BA03-C71777D68C3E}" type="pres">
      <dgm:prSet presAssocID="{1B95C5B6-6C37-4416-83FE-FB21D41EE1AD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56005523-18D6-40C9-BD0E-D361D2E25839}" type="presOf" srcId="{6A358C40-6562-4B0D-A287-7078D52D5E41}" destId="{96288A71-F861-467D-865A-AD1FD8F9F1D4}" srcOrd="0" destOrd="0" presId="urn:microsoft.com/office/officeart/2018/5/layout/IconCircleLabelList"/>
    <dgm:cxn modelId="{E5082D2A-65B8-4F34-BE3F-AFD590CB1ED2}" srcId="{8E8664E9-A00C-46AB-B72A-4A79CA92B268}" destId="{1B95C5B6-6C37-4416-83FE-FB21D41EE1AD}" srcOrd="4" destOrd="0" parTransId="{FA370E69-2826-43AA-ABBB-2B37F1201143}" sibTransId="{6477E4EF-685D-42A2-922D-0DE084A5CAD3}"/>
    <dgm:cxn modelId="{DACE6831-A35D-443A-AD9B-C13376D2BFFE}" srcId="{8E8664E9-A00C-46AB-B72A-4A79CA92B268}" destId="{CC411CB5-48C8-4921-8601-06C695B70480}" srcOrd="1" destOrd="0" parTransId="{4000F5B9-5758-471A-A5E0-FB02D6709914}" sibTransId="{21E443BB-CDCB-41DD-B9C8-6C05BA7DB43D}"/>
    <dgm:cxn modelId="{83B38F36-729C-49E1-A196-1C422D6F31D9}" type="presOf" srcId="{F4565367-3807-4CAF-A46C-A57A4F8F810C}" destId="{701DB707-60AB-4F48-AC8A-192E76893D45}" srcOrd="0" destOrd="0" presId="urn:microsoft.com/office/officeart/2018/5/layout/IconCircleLabelList"/>
    <dgm:cxn modelId="{A317354C-FA35-496B-91E6-C91DB0FF40BB}" srcId="{8E8664E9-A00C-46AB-B72A-4A79CA92B268}" destId="{6A358C40-6562-4B0D-A287-7078D52D5E41}" srcOrd="2" destOrd="0" parTransId="{3E45AF53-840A-4FFF-9B03-7E1D30F8C693}" sibTransId="{34D6ABC5-2BFC-47F0-BDE7-E07D0B43BEA7}"/>
    <dgm:cxn modelId="{3F2D9A5F-9E85-44E7-8F42-7410F88779D7}" srcId="{8E8664E9-A00C-46AB-B72A-4A79CA92B268}" destId="{9745484A-6D00-4682-BB98-0C02C9EC3AA2}" srcOrd="0" destOrd="0" parTransId="{456B4E0F-ADE4-4AC0-A7CD-B5F882F5E29F}" sibTransId="{3A14BCD5-7B70-4C59-86BC-77C1A0C1FA92}"/>
    <dgm:cxn modelId="{29E3BB61-60AC-4306-8458-FBBB1FAB0315}" type="presOf" srcId="{8E8664E9-A00C-46AB-B72A-4A79CA92B268}" destId="{D3F28626-4E05-4F3B-BEDA-2B0FBB2E8656}" srcOrd="0" destOrd="0" presId="urn:microsoft.com/office/officeart/2018/5/layout/IconCircleLabelList"/>
    <dgm:cxn modelId="{6B594084-0A59-462B-AA3A-4D09E0C2300C}" type="presOf" srcId="{9745484A-6D00-4682-BB98-0C02C9EC3AA2}" destId="{3FC7070F-3466-45DE-A5CB-F4ADB32C0A8C}" srcOrd="0" destOrd="0" presId="urn:microsoft.com/office/officeart/2018/5/layout/IconCircleLabelList"/>
    <dgm:cxn modelId="{CE6947A7-F3BA-42B4-B1BB-CC175B5BF598}" type="presOf" srcId="{1B95C5B6-6C37-4416-83FE-FB21D41EE1AD}" destId="{6E5DE71F-2B1E-47B8-BA03-C71777D68C3E}" srcOrd="0" destOrd="0" presId="urn:microsoft.com/office/officeart/2018/5/layout/IconCircleLabelList"/>
    <dgm:cxn modelId="{973691D1-9914-46E0-AB3F-4D9DD7AEF209}" type="presOf" srcId="{CC411CB5-48C8-4921-8601-06C695B70480}" destId="{FE4BE8CF-2DB5-4423-9E11-6700C942381E}" srcOrd="0" destOrd="0" presId="urn:microsoft.com/office/officeart/2018/5/layout/IconCircleLabelList"/>
    <dgm:cxn modelId="{51F710F2-6F79-482D-9C69-B623C92D14AD}" srcId="{8E8664E9-A00C-46AB-B72A-4A79CA92B268}" destId="{F4565367-3807-4CAF-A46C-A57A4F8F810C}" srcOrd="3" destOrd="0" parTransId="{3AC61AD7-345F-475A-85A0-14A1E3E4F755}" sibTransId="{A5C77FFB-F317-428A-801C-7752FF5E41C2}"/>
    <dgm:cxn modelId="{FB9460F2-F5B4-4D69-9BE1-45A4156A4B70}" type="presParOf" srcId="{D3F28626-4E05-4F3B-BEDA-2B0FBB2E8656}" destId="{5DDD9219-2938-4C9C-81A9-845081D87E6B}" srcOrd="0" destOrd="0" presId="urn:microsoft.com/office/officeart/2018/5/layout/IconCircleLabelList"/>
    <dgm:cxn modelId="{E07D6260-CE03-444E-95E8-2B145C11C552}" type="presParOf" srcId="{5DDD9219-2938-4C9C-81A9-845081D87E6B}" destId="{D4A15087-CA2B-458D-AA69-7FB7A0FBBE7E}" srcOrd="0" destOrd="0" presId="urn:microsoft.com/office/officeart/2018/5/layout/IconCircleLabelList"/>
    <dgm:cxn modelId="{4AE313B5-3056-4C89-9FF1-AE298236E1C1}" type="presParOf" srcId="{5DDD9219-2938-4C9C-81A9-845081D87E6B}" destId="{884DA11C-8F3E-4432-8CEA-7CD200B2AD53}" srcOrd="1" destOrd="0" presId="urn:microsoft.com/office/officeart/2018/5/layout/IconCircleLabelList"/>
    <dgm:cxn modelId="{9FB3ED70-C8E2-41A7-AEF9-55365A04EEF8}" type="presParOf" srcId="{5DDD9219-2938-4C9C-81A9-845081D87E6B}" destId="{5731913F-FB18-4FFE-91B0-D803A6CB6CD1}" srcOrd="2" destOrd="0" presId="urn:microsoft.com/office/officeart/2018/5/layout/IconCircleLabelList"/>
    <dgm:cxn modelId="{88E01AB2-06E4-4206-A819-02A483525422}" type="presParOf" srcId="{5DDD9219-2938-4C9C-81A9-845081D87E6B}" destId="{3FC7070F-3466-45DE-A5CB-F4ADB32C0A8C}" srcOrd="3" destOrd="0" presId="urn:microsoft.com/office/officeart/2018/5/layout/IconCircleLabelList"/>
    <dgm:cxn modelId="{1E7D394A-31BC-493D-AA0A-C5595E38ECEA}" type="presParOf" srcId="{D3F28626-4E05-4F3B-BEDA-2B0FBB2E8656}" destId="{EF1309B7-926E-41BE-BBB0-399CD2741CCA}" srcOrd="1" destOrd="0" presId="urn:microsoft.com/office/officeart/2018/5/layout/IconCircleLabelList"/>
    <dgm:cxn modelId="{8A153C58-D4DB-49D8-B76D-0CB947853E0D}" type="presParOf" srcId="{D3F28626-4E05-4F3B-BEDA-2B0FBB2E8656}" destId="{62F89ABB-DCF5-46F2-A5BE-DB6835A1BFE9}" srcOrd="2" destOrd="0" presId="urn:microsoft.com/office/officeart/2018/5/layout/IconCircleLabelList"/>
    <dgm:cxn modelId="{A24B88D1-217E-4A7C-B2F3-D68F144AA954}" type="presParOf" srcId="{62F89ABB-DCF5-46F2-A5BE-DB6835A1BFE9}" destId="{A228B6CE-C649-4A32-8A98-99AB8342B898}" srcOrd="0" destOrd="0" presId="urn:microsoft.com/office/officeart/2018/5/layout/IconCircleLabelList"/>
    <dgm:cxn modelId="{289CCF61-F54D-49B3-AD60-0638AF524D13}" type="presParOf" srcId="{62F89ABB-DCF5-46F2-A5BE-DB6835A1BFE9}" destId="{E2620798-ECEA-4C69-B54E-1F584F74BBDD}" srcOrd="1" destOrd="0" presId="urn:microsoft.com/office/officeart/2018/5/layout/IconCircleLabelList"/>
    <dgm:cxn modelId="{3F83AAFE-2078-4BEA-A115-F1A812C762BA}" type="presParOf" srcId="{62F89ABB-DCF5-46F2-A5BE-DB6835A1BFE9}" destId="{ED4D718B-8B04-44F8-9AEA-70A36FA42105}" srcOrd="2" destOrd="0" presId="urn:microsoft.com/office/officeart/2018/5/layout/IconCircleLabelList"/>
    <dgm:cxn modelId="{1C8FDE86-5653-4537-987E-5BBCE4DA2F47}" type="presParOf" srcId="{62F89ABB-DCF5-46F2-A5BE-DB6835A1BFE9}" destId="{FE4BE8CF-2DB5-4423-9E11-6700C942381E}" srcOrd="3" destOrd="0" presId="urn:microsoft.com/office/officeart/2018/5/layout/IconCircleLabelList"/>
    <dgm:cxn modelId="{29C1D3BA-4D49-4461-B02F-2CFD65636EE6}" type="presParOf" srcId="{D3F28626-4E05-4F3B-BEDA-2B0FBB2E8656}" destId="{99FBB310-62B8-4ED9-86FD-D92CFC455CDB}" srcOrd="3" destOrd="0" presId="urn:microsoft.com/office/officeart/2018/5/layout/IconCircleLabelList"/>
    <dgm:cxn modelId="{27AE9668-5334-4DF0-B5BC-504B61026F96}" type="presParOf" srcId="{D3F28626-4E05-4F3B-BEDA-2B0FBB2E8656}" destId="{07F2A837-0F9E-4148-9FF4-60ABE9F318F5}" srcOrd="4" destOrd="0" presId="urn:microsoft.com/office/officeart/2018/5/layout/IconCircleLabelList"/>
    <dgm:cxn modelId="{AFB8C1D5-D582-4158-9122-22E18EA228EF}" type="presParOf" srcId="{07F2A837-0F9E-4148-9FF4-60ABE9F318F5}" destId="{F100D1FA-0D52-4E50-B039-9CD4F6268515}" srcOrd="0" destOrd="0" presId="urn:microsoft.com/office/officeart/2018/5/layout/IconCircleLabelList"/>
    <dgm:cxn modelId="{3A0DD357-D81E-4B07-B2D2-DADE7EE36E02}" type="presParOf" srcId="{07F2A837-0F9E-4148-9FF4-60ABE9F318F5}" destId="{C20DAB67-4014-47F3-8198-86633716F3E6}" srcOrd="1" destOrd="0" presId="urn:microsoft.com/office/officeart/2018/5/layout/IconCircleLabelList"/>
    <dgm:cxn modelId="{E00BBEEC-14F9-4314-BB0A-45938B9E66A1}" type="presParOf" srcId="{07F2A837-0F9E-4148-9FF4-60ABE9F318F5}" destId="{44D48121-2201-4D46-81F6-21452DA945D4}" srcOrd="2" destOrd="0" presId="urn:microsoft.com/office/officeart/2018/5/layout/IconCircleLabelList"/>
    <dgm:cxn modelId="{9C78B688-FD24-439C-841E-868A9F12EA75}" type="presParOf" srcId="{07F2A837-0F9E-4148-9FF4-60ABE9F318F5}" destId="{96288A71-F861-467D-865A-AD1FD8F9F1D4}" srcOrd="3" destOrd="0" presId="urn:microsoft.com/office/officeart/2018/5/layout/IconCircleLabelList"/>
    <dgm:cxn modelId="{3E2D7E92-4296-44E0-BF4C-EDE5E8805C5D}" type="presParOf" srcId="{D3F28626-4E05-4F3B-BEDA-2B0FBB2E8656}" destId="{149C4E1D-D180-4A01-9C3A-E7021DCFEF04}" srcOrd="5" destOrd="0" presId="urn:microsoft.com/office/officeart/2018/5/layout/IconCircleLabelList"/>
    <dgm:cxn modelId="{AC64C46F-FCA9-448B-86E5-CAB30AFE4766}" type="presParOf" srcId="{D3F28626-4E05-4F3B-BEDA-2B0FBB2E8656}" destId="{EC7A16CF-1AE7-430B-953D-F213DECC572B}" srcOrd="6" destOrd="0" presId="urn:microsoft.com/office/officeart/2018/5/layout/IconCircleLabelList"/>
    <dgm:cxn modelId="{0F0F58C3-54C6-48DA-9BAF-1CAC65B883F0}" type="presParOf" srcId="{EC7A16CF-1AE7-430B-953D-F213DECC572B}" destId="{85340B83-2183-4453-AA01-D5EE9FC3949C}" srcOrd="0" destOrd="0" presId="urn:microsoft.com/office/officeart/2018/5/layout/IconCircleLabelList"/>
    <dgm:cxn modelId="{A67E00D4-F93D-4982-8A21-DB76BD5D2A4E}" type="presParOf" srcId="{EC7A16CF-1AE7-430B-953D-F213DECC572B}" destId="{ED9A7046-87E1-4B84-A37B-1C550F249A67}" srcOrd="1" destOrd="0" presId="urn:microsoft.com/office/officeart/2018/5/layout/IconCircleLabelList"/>
    <dgm:cxn modelId="{D809154E-B350-4FE6-B69B-0280B0BA19F2}" type="presParOf" srcId="{EC7A16CF-1AE7-430B-953D-F213DECC572B}" destId="{75413C71-89D6-41B5-B69E-346389F4F54F}" srcOrd="2" destOrd="0" presId="urn:microsoft.com/office/officeart/2018/5/layout/IconCircleLabelList"/>
    <dgm:cxn modelId="{280E3211-2F5E-4626-84E2-51D3C49187F6}" type="presParOf" srcId="{EC7A16CF-1AE7-430B-953D-F213DECC572B}" destId="{701DB707-60AB-4F48-AC8A-192E76893D45}" srcOrd="3" destOrd="0" presId="urn:microsoft.com/office/officeart/2018/5/layout/IconCircleLabelList"/>
    <dgm:cxn modelId="{AEA9880A-6AB5-4328-AD00-E0130F760F6B}" type="presParOf" srcId="{D3F28626-4E05-4F3B-BEDA-2B0FBB2E8656}" destId="{F46483B6-EB70-44A9-975C-71504163801D}" srcOrd="7" destOrd="0" presId="urn:microsoft.com/office/officeart/2018/5/layout/IconCircleLabelList"/>
    <dgm:cxn modelId="{AD58D9E0-BC9E-4B8F-9655-29B81BB071B1}" type="presParOf" srcId="{D3F28626-4E05-4F3B-BEDA-2B0FBB2E8656}" destId="{41DE016C-AFA5-4964-B94A-84B5DC781266}" srcOrd="8" destOrd="0" presId="urn:microsoft.com/office/officeart/2018/5/layout/IconCircleLabelList"/>
    <dgm:cxn modelId="{05311A97-A8FD-4893-B471-76725E432E43}" type="presParOf" srcId="{41DE016C-AFA5-4964-B94A-84B5DC781266}" destId="{7EF834F5-6611-4C4E-8B83-D66765B25C0E}" srcOrd="0" destOrd="0" presId="urn:microsoft.com/office/officeart/2018/5/layout/IconCircleLabelList"/>
    <dgm:cxn modelId="{2AB0A008-0B68-4CD1-9ADC-DF08A29B0D0B}" type="presParOf" srcId="{41DE016C-AFA5-4964-B94A-84B5DC781266}" destId="{442936B3-3DA3-483F-BDF2-991DC92A34AE}" srcOrd="1" destOrd="0" presId="urn:microsoft.com/office/officeart/2018/5/layout/IconCircleLabelList"/>
    <dgm:cxn modelId="{252B9DF7-02EC-405D-87A8-29E04AB02E88}" type="presParOf" srcId="{41DE016C-AFA5-4964-B94A-84B5DC781266}" destId="{1D74B8D7-5516-4AD2-9398-6A3EAC56F1CF}" srcOrd="2" destOrd="0" presId="urn:microsoft.com/office/officeart/2018/5/layout/IconCircleLabelList"/>
    <dgm:cxn modelId="{040B4EE3-7936-4BCE-8164-6DFA449CCF65}" type="presParOf" srcId="{41DE016C-AFA5-4964-B94A-84B5DC781266}" destId="{6E5DE71F-2B1E-47B8-BA03-C71777D68C3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A15087-CA2B-458D-AA69-7FB7A0FBBE7E}">
      <dsp:nvSpPr>
        <dsp:cNvPr id="0" name=""/>
        <dsp:cNvSpPr/>
      </dsp:nvSpPr>
      <dsp:spPr>
        <a:xfrm>
          <a:off x="827085" y="211"/>
          <a:ext cx="965039" cy="96503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4DA11C-8F3E-4432-8CEA-7CD200B2AD53}">
      <dsp:nvSpPr>
        <dsp:cNvPr id="0" name=""/>
        <dsp:cNvSpPr/>
      </dsp:nvSpPr>
      <dsp:spPr>
        <a:xfrm>
          <a:off x="1032749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C7070F-3466-45DE-A5CB-F4ADB32C0A8C}">
      <dsp:nvSpPr>
        <dsp:cNvPr id="0" name=""/>
        <dsp:cNvSpPr/>
      </dsp:nvSpPr>
      <dsp:spPr>
        <a:xfrm>
          <a:off x="51858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Legacy Qt architecture: tightly-coupled GUI + database + business logic</a:t>
          </a:r>
        </a:p>
      </dsp:txBody>
      <dsp:txXfrm>
        <a:off x="518589" y="1265836"/>
        <a:ext cx="1582031" cy="632812"/>
      </dsp:txXfrm>
    </dsp:sp>
    <dsp:sp modelId="{A228B6CE-C649-4A32-8A98-99AB8342B898}">
      <dsp:nvSpPr>
        <dsp:cNvPr id="0" name=""/>
        <dsp:cNvSpPr/>
      </dsp:nvSpPr>
      <dsp:spPr>
        <a:xfrm>
          <a:off x="2685972" y="211"/>
          <a:ext cx="965039" cy="96503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620798-ECEA-4C69-B54E-1F584F74BBDD}">
      <dsp:nvSpPr>
        <dsp:cNvPr id="0" name=""/>
        <dsp:cNvSpPr/>
      </dsp:nvSpPr>
      <dsp:spPr>
        <a:xfrm>
          <a:off x="2891636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4BE8CF-2DB5-4423-9E11-6700C942381E}">
      <dsp:nvSpPr>
        <dsp:cNvPr id="0" name=""/>
        <dsp:cNvSpPr/>
      </dsp:nvSpPr>
      <dsp:spPr>
        <a:xfrm>
          <a:off x="2377476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PySide2/Qt bindings increasingly difficult to maintain</a:t>
          </a:r>
        </a:p>
      </dsp:txBody>
      <dsp:txXfrm>
        <a:off x="2377476" y="1265836"/>
        <a:ext cx="1582031" cy="632812"/>
      </dsp:txXfrm>
    </dsp:sp>
    <dsp:sp modelId="{F100D1FA-0D52-4E50-B039-9CD4F6268515}">
      <dsp:nvSpPr>
        <dsp:cNvPr id="0" name=""/>
        <dsp:cNvSpPr/>
      </dsp:nvSpPr>
      <dsp:spPr>
        <a:xfrm>
          <a:off x="4544859" y="211"/>
          <a:ext cx="965039" cy="96503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0DAB67-4014-47F3-8198-86633716F3E6}">
      <dsp:nvSpPr>
        <dsp:cNvPr id="0" name=""/>
        <dsp:cNvSpPr/>
      </dsp:nvSpPr>
      <dsp:spPr>
        <a:xfrm>
          <a:off x="4750523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288A71-F861-467D-865A-AD1FD8F9F1D4}">
      <dsp:nvSpPr>
        <dsp:cNvPr id="0" name=""/>
        <dsp:cNvSpPr/>
      </dsp:nvSpPr>
      <dsp:spPr>
        <a:xfrm>
          <a:off x="4236363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Procedural GUI code hard to test, extend, and onboard new developers</a:t>
          </a:r>
        </a:p>
      </dsp:txBody>
      <dsp:txXfrm>
        <a:off x="4236363" y="1265836"/>
        <a:ext cx="1582031" cy="632812"/>
      </dsp:txXfrm>
    </dsp:sp>
    <dsp:sp modelId="{85340B83-2183-4453-AA01-D5EE9FC3949C}">
      <dsp:nvSpPr>
        <dsp:cNvPr id="0" name=""/>
        <dsp:cNvSpPr/>
      </dsp:nvSpPr>
      <dsp:spPr>
        <a:xfrm>
          <a:off x="6403746" y="211"/>
          <a:ext cx="965039" cy="96503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9A7046-87E1-4B84-A37B-1C550F249A67}">
      <dsp:nvSpPr>
        <dsp:cNvPr id="0" name=""/>
        <dsp:cNvSpPr/>
      </dsp:nvSpPr>
      <dsp:spPr>
        <a:xfrm>
          <a:off x="6609410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1DB707-60AB-4F48-AC8A-192E76893D45}">
      <dsp:nvSpPr>
        <dsp:cNvPr id="0" name=""/>
        <dsp:cNvSpPr/>
      </dsp:nvSpPr>
      <dsp:spPr>
        <a:xfrm>
          <a:off x="609524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10+ years of crystallographic wrappers &amp; pipelines to preserve</a:t>
          </a:r>
        </a:p>
      </dsp:txBody>
      <dsp:txXfrm>
        <a:off x="6095249" y="1265836"/>
        <a:ext cx="1582031" cy="632812"/>
      </dsp:txXfrm>
    </dsp:sp>
    <dsp:sp modelId="{7EF834F5-6611-4C4E-8B83-D66765B25C0E}">
      <dsp:nvSpPr>
        <dsp:cNvPr id="0" name=""/>
        <dsp:cNvSpPr/>
      </dsp:nvSpPr>
      <dsp:spPr>
        <a:xfrm>
          <a:off x="3615415" y="2294156"/>
          <a:ext cx="965039" cy="96503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2936B3-3DA3-483F-BDF2-991DC92A34AE}">
      <dsp:nvSpPr>
        <dsp:cNvPr id="0" name=""/>
        <dsp:cNvSpPr/>
      </dsp:nvSpPr>
      <dsp:spPr>
        <a:xfrm>
          <a:off x="3821080" y="2499820"/>
          <a:ext cx="553710" cy="55371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5DE71F-2B1E-47B8-BA03-C71777D68C3E}">
      <dsp:nvSpPr>
        <dsp:cNvPr id="0" name=""/>
        <dsp:cNvSpPr/>
      </dsp:nvSpPr>
      <dsp:spPr>
        <a:xfrm>
          <a:off x="3306919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KEY GOAL: Reduce long-term support burden while serving existing users</a:t>
          </a:r>
        </a:p>
      </dsp:txBody>
      <dsp:txXfrm>
        <a:off x="3306919" y="3559781"/>
        <a:ext cx="1582031" cy="6328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CCP4i2: Qt to Django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Modernizing Crystallographic Computing Infrastructure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028697" y="348865"/>
            <a:ext cx="7533018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 Challenge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D9D81CD9-46BB-9B2C-0349-0642C026A5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45360725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524784" y="248038"/>
            <a:ext cx="5297791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Architecture Overview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0997079"/>
              </p:ext>
            </p:extLst>
          </p:nvPr>
        </p:nvGraphicFramePr>
        <p:xfrm>
          <a:off x="324168" y="2181756"/>
          <a:ext cx="8495663" cy="4021236"/>
        </p:xfrm>
        <a:graphic>
          <a:graphicData uri="http://schemas.openxmlformats.org/drawingml/2006/table">
            <a:tbl>
              <a:tblPr firstRow="1" bandRow="1">
                <a:solidFill>
                  <a:schemeClr val="tx1">
                    <a:lumMod val="75000"/>
                    <a:lumOff val="25000"/>
                  </a:schemeClr>
                </a:solidFill>
                <a:tableStyleId>{5C22544A-7EE6-4342-B048-85BDC9FD1C3A}</a:tableStyleId>
              </a:tblPr>
              <a:tblGrid>
                <a:gridCol w="1683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10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915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0206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200" b="0" cap="none" spc="0">
                          <a:solidFill>
                            <a:schemeClr val="bg1"/>
                          </a:solidFill>
                        </a:rPr>
                        <a:t>Layer</a:t>
                      </a:r>
                    </a:p>
                  </a:txBody>
                  <a:tcPr marL="184071" marR="141593" marT="141593" marB="141593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200" b="0" cap="none" spc="0">
                          <a:solidFill>
                            <a:schemeClr val="bg1"/>
                          </a:solidFill>
                        </a:rPr>
                        <a:t>Legacy (Qt)</a:t>
                      </a:r>
                    </a:p>
                  </a:txBody>
                  <a:tcPr marL="184071" marR="141593" marT="141593" marB="141593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200" b="0" cap="none" spc="0">
                          <a:solidFill>
                            <a:schemeClr val="bg1"/>
                          </a:solidFill>
                        </a:rPr>
                        <a:t>Modern (Django)</a:t>
                      </a:r>
                    </a:p>
                  </a:txBody>
                  <a:tcPr marL="184071" marR="141593" marT="141593" marB="141593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20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2200" cap="none" spc="0">
                          <a:solidFill>
                            <a:schemeClr val="bg1"/>
                          </a:solidFill>
                        </a:rPr>
                        <a:t>Database</a:t>
                      </a:r>
                    </a:p>
                  </a:txBody>
                  <a:tcPr marL="184071" marR="141593" marT="141593" marB="141593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2200" cap="none" spc="0">
                          <a:solidFill>
                            <a:schemeClr val="bg1"/>
                          </a:solidFill>
                        </a:rPr>
                        <a:t>QtSql (raw SQL)</a:t>
                      </a:r>
                    </a:p>
                  </a:txBody>
                  <a:tcPr marL="184071" marR="141593" marT="141593" marB="141593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2200" cap="none" spc="0">
                          <a:solidFill>
                            <a:schemeClr val="bg1"/>
                          </a:solidFill>
                        </a:rPr>
                        <a:t>Django ORM</a:t>
                      </a:r>
                    </a:p>
                  </a:txBody>
                  <a:tcPr marL="184071" marR="141593" marT="141593" marB="141593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20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2200" cap="none" spc="0">
                          <a:solidFill>
                            <a:schemeClr val="bg1"/>
                          </a:solidFill>
                        </a:rPr>
                        <a:t>API</a:t>
                      </a:r>
                    </a:p>
                  </a:txBody>
                  <a:tcPr marL="184071" marR="141593" marT="141593" marB="141593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2200" cap="none" spc="0">
                          <a:solidFill>
                            <a:schemeClr val="bg1"/>
                          </a:solidFill>
                        </a:rPr>
                        <a:t>None (in-process)</a:t>
                      </a:r>
                    </a:p>
                  </a:txBody>
                  <a:tcPr marL="184071" marR="141593" marT="141593" marB="141593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2200" cap="none" spc="0">
                          <a:solidFill>
                            <a:schemeClr val="bg1"/>
                          </a:solidFill>
                        </a:rPr>
                        <a:t>REST API (DRF)</a:t>
                      </a:r>
                    </a:p>
                  </a:txBody>
                  <a:tcPr marL="184071" marR="141593" marT="141593" marB="141593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20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2200" cap="none" spc="0">
                          <a:solidFill>
                            <a:schemeClr val="bg1"/>
                          </a:solidFill>
                        </a:rPr>
                        <a:t>Frontend</a:t>
                      </a:r>
                    </a:p>
                  </a:txBody>
                  <a:tcPr marL="184071" marR="141593" marT="141593" marB="141593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2200" cap="none" spc="0">
                          <a:solidFill>
                            <a:schemeClr val="bg1"/>
                          </a:solidFill>
                        </a:rPr>
                        <a:t>Qt Widgets (procedural)</a:t>
                      </a:r>
                    </a:p>
                  </a:txBody>
                  <a:tcPr marL="184071" marR="141593" marT="141593" marB="141593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2200" cap="none" spc="0">
                          <a:solidFill>
                            <a:schemeClr val="bg1"/>
                          </a:solidFill>
                        </a:rPr>
                        <a:t>React (declarative)</a:t>
                      </a:r>
                    </a:p>
                  </a:txBody>
                  <a:tcPr marL="184071" marR="141593" marT="141593" marB="141593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020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2200" cap="none" spc="0">
                          <a:solidFill>
                            <a:schemeClr val="bg1"/>
                          </a:solidFill>
                        </a:rPr>
                        <a:t>Events</a:t>
                      </a:r>
                    </a:p>
                  </a:txBody>
                  <a:tcPr marL="184071" marR="141593" marT="141593" marB="141593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2200" cap="none" spc="0">
                          <a:solidFill>
                            <a:schemeClr val="bg1"/>
                          </a:solidFill>
                        </a:rPr>
                        <a:t>Signals / Slots</a:t>
                      </a:r>
                    </a:p>
                  </a:txBody>
                  <a:tcPr marL="184071" marR="141593" marT="141593" marB="141593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2200" cap="none" spc="0">
                          <a:solidFill>
                            <a:schemeClr val="bg1"/>
                          </a:solidFill>
                        </a:rPr>
                        <a:t>asyncio</a:t>
                      </a:r>
                    </a:p>
                  </a:txBody>
                  <a:tcPr marL="184071" marR="141593" marT="141593" marB="141593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020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2200" cap="none" spc="0">
                          <a:solidFill>
                            <a:schemeClr val="bg1"/>
                          </a:solidFill>
                        </a:rPr>
                        <a:t>Tooling</a:t>
                      </a:r>
                    </a:p>
                  </a:txBody>
                  <a:tcPr marL="184071" marR="141593" marT="141593" marB="141593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2200" cap="none" spc="0">
                          <a:solidFill>
                            <a:schemeClr val="bg1"/>
                          </a:solidFill>
                        </a:rPr>
                        <a:t>Qt MOC, custom build</a:t>
                      </a:r>
                    </a:p>
                  </a:txBody>
                  <a:tcPr marL="184071" marR="141593" marT="141593" marB="141593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sz="2200" cap="none" spc="0">
                          <a:solidFill>
                            <a:schemeClr val="bg1"/>
                          </a:solidFill>
                        </a:rPr>
                        <a:t>npm, pytest, TypeScript</a:t>
                      </a:r>
                    </a:p>
                  </a:txBody>
                  <a:tcPr marL="184071" marR="141593" marT="141593" marB="141593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27FF362-FC97-4BF5-949B-D4ADFA26E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888549">
            <a:off x="-794604" y="-1108988"/>
            <a:ext cx="5384871" cy="5226565"/>
          </a:xfrm>
          <a:custGeom>
            <a:avLst/>
            <a:gdLst>
              <a:gd name="connsiteX0" fmla="*/ 5217841 w 7179830"/>
              <a:gd name="connsiteY0" fmla="*/ 464824 h 5226565"/>
              <a:gd name="connsiteX1" fmla="*/ 5222490 w 7179830"/>
              <a:gd name="connsiteY1" fmla="*/ 464289 h 5226565"/>
              <a:gd name="connsiteX2" fmla="*/ 5216768 w 7179830"/>
              <a:gd name="connsiteY2" fmla="*/ 463394 h 5226565"/>
              <a:gd name="connsiteX3" fmla="*/ 5217841 w 7179830"/>
              <a:gd name="connsiteY3" fmla="*/ 464824 h 5226565"/>
              <a:gd name="connsiteX4" fmla="*/ 4945201 w 7179830"/>
              <a:gd name="connsiteY4" fmla="*/ 5226565 h 5226565"/>
              <a:gd name="connsiteX5" fmla="*/ 140449 w 7179830"/>
              <a:gd name="connsiteY5" fmla="*/ 2240811 h 5226565"/>
              <a:gd name="connsiteX6" fmla="*/ 232913 w 7179830"/>
              <a:gd name="connsiteY6" fmla="*/ 2052782 h 5226565"/>
              <a:gd name="connsiteX7" fmla="*/ 375714 w 7179830"/>
              <a:gd name="connsiteY7" fmla="*/ 1803205 h 5226565"/>
              <a:gd name="connsiteX8" fmla="*/ 1512756 w 7179830"/>
              <a:gd name="connsiteY8" fmla="*/ 638448 h 5226565"/>
              <a:gd name="connsiteX9" fmla="*/ 2902095 w 7179830"/>
              <a:gd name="connsiteY9" fmla="*/ 120440 h 5226565"/>
              <a:gd name="connsiteX10" fmla="*/ 2848453 w 7179830"/>
              <a:gd name="connsiteY10" fmla="*/ 125626 h 5226565"/>
              <a:gd name="connsiteX11" fmla="*/ 1837830 w 7179830"/>
              <a:gd name="connsiteY11" fmla="*/ 426203 h 5226565"/>
              <a:gd name="connsiteX12" fmla="*/ 214608 w 7179830"/>
              <a:gd name="connsiteY12" fmla="*/ 1882239 h 5226565"/>
              <a:gd name="connsiteX13" fmla="*/ 91317 w 7179830"/>
              <a:gd name="connsiteY13" fmla="*/ 2123701 h 5226565"/>
              <a:gd name="connsiteX14" fmla="*/ 64092 w 7179830"/>
              <a:gd name="connsiteY14" fmla="*/ 2193361 h 5226565"/>
              <a:gd name="connsiteX15" fmla="*/ 0 w 7179830"/>
              <a:gd name="connsiteY15" fmla="*/ 2153533 h 5226565"/>
              <a:gd name="connsiteX16" fmla="*/ 42834 w 7179830"/>
              <a:gd name="connsiteY16" fmla="*/ 2047277 h 5226565"/>
              <a:gd name="connsiteX17" fmla="*/ 923582 w 7179830"/>
              <a:gd name="connsiteY17" fmla="*/ 915600 h 5226565"/>
              <a:gd name="connsiteX18" fmla="*/ 2686989 w 7179830"/>
              <a:gd name="connsiteY18" fmla="*/ 73950 h 5226565"/>
              <a:gd name="connsiteX19" fmla="*/ 3059983 w 7179830"/>
              <a:gd name="connsiteY19" fmla="*/ 20308 h 5226565"/>
              <a:gd name="connsiteX20" fmla="*/ 3454435 w 7179830"/>
              <a:gd name="connsiteY20" fmla="*/ 1176 h 5226565"/>
              <a:gd name="connsiteX21" fmla="*/ 3923806 w 7179830"/>
              <a:gd name="connsiteY21" fmla="*/ 49990 h 5226565"/>
              <a:gd name="connsiteX22" fmla="*/ 5350874 w 7179830"/>
              <a:gd name="connsiteY22" fmla="*/ 426917 h 5226565"/>
              <a:gd name="connsiteX23" fmla="*/ 6607360 w 7179830"/>
              <a:gd name="connsiteY23" fmla="*/ 1075097 h 5226565"/>
              <a:gd name="connsiteX24" fmla="*/ 7110534 w 7179830"/>
              <a:gd name="connsiteY24" fmla="*/ 1541421 h 5226565"/>
              <a:gd name="connsiteX25" fmla="*/ 7179830 w 7179830"/>
              <a:gd name="connsiteY25" fmla="*/ 1630542 h 5226565"/>
              <a:gd name="connsiteX26" fmla="*/ 7136295 w 7179830"/>
              <a:gd name="connsiteY26" fmla="*/ 1700600 h 5226565"/>
              <a:gd name="connsiteX27" fmla="*/ 7131140 w 7179830"/>
              <a:gd name="connsiteY27" fmla="*/ 1693045 h 5226565"/>
              <a:gd name="connsiteX28" fmla="*/ 6577499 w 7179830"/>
              <a:gd name="connsiteY28" fmla="*/ 1148230 h 5226565"/>
              <a:gd name="connsiteX29" fmla="*/ 5494816 w 7179830"/>
              <a:gd name="connsiteY29" fmla="*/ 563527 h 5226565"/>
              <a:gd name="connsiteX30" fmla="*/ 5366967 w 7179830"/>
              <a:gd name="connsiteY30" fmla="*/ 514176 h 5226565"/>
              <a:gd name="connsiteX31" fmla="*/ 5244661 w 7179830"/>
              <a:gd name="connsiteY31" fmla="*/ 470725 h 5226565"/>
              <a:gd name="connsiteX32" fmla="*/ 5904822 w 7179830"/>
              <a:gd name="connsiteY32" fmla="*/ 815468 h 5226565"/>
              <a:gd name="connsiteX33" fmla="*/ 7015222 w 7179830"/>
              <a:gd name="connsiteY33" fmla="*/ 1815185 h 5226565"/>
              <a:gd name="connsiteX34" fmla="*/ 7040454 w 7179830"/>
              <a:gd name="connsiteY34" fmla="*/ 1854830 h 5226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7179830" h="5226565">
                <a:moveTo>
                  <a:pt x="5217841" y="464824"/>
                </a:moveTo>
                <a:lnTo>
                  <a:pt x="5222490" y="464289"/>
                </a:lnTo>
                <a:lnTo>
                  <a:pt x="5216768" y="463394"/>
                </a:lnTo>
                <a:cubicBezTo>
                  <a:pt x="5216768" y="463394"/>
                  <a:pt x="5216768" y="464646"/>
                  <a:pt x="5217841" y="464824"/>
                </a:cubicBezTo>
                <a:close/>
                <a:moveTo>
                  <a:pt x="4945201" y="5226565"/>
                </a:moveTo>
                <a:lnTo>
                  <a:pt x="140449" y="2240811"/>
                </a:lnTo>
                <a:lnTo>
                  <a:pt x="232913" y="2052782"/>
                </a:lnTo>
                <a:cubicBezTo>
                  <a:pt x="277693" y="1968290"/>
                  <a:pt x="325201" y="1885054"/>
                  <a:pt x="375714" y="1803205"/>
                </a:cubicBezTo>
                <a:cubicBezTo>
                  <a:pt x="667528" y="1329721"/>
                  <a:pt x="1039629" y="935091"/>
                  <a:pt x="1512756" y="638448"/>
                </a:cubicBezTo>
                <a:cubicBezTo>
                  <a:pt x="1939392" y="370950"/>
                  <a:pt x="2405724" y="210560"/>
                  <a:pt x="2902095" y="120440"/>
                </a:cubicBezTo>
                <a:cubicBezTo>
                  <a:pt x="2884054" y="118134"/>
                  <a:pt x="2865727" y="119904"/>
                  <a:pt x="2848453" y="125626"/>
                </a:cubicBezTo>
                <a:cubicBezTo>
                  <a:pt x="2498704" y="175943"/>
                  <a:pt x="2158217" y="277201"/>
                  <a:pt x="1837830" y="426203"/>
                </a:cubicBezTo>
                <a:cubicBezTo>
                  <a:pt x="1147094" y="744660"/>
                  <a:pt x="593502" y="1217071"/>
                  <a:pt x="214608" y="1882239"/>
                </a:cubicBezTo>
                <a:cubicBezTo>
                  <a:pt x="169441" y="1960776"/>
                  <a:pt x="128308" y="2041369"/>
                  <a:pt x="91317" y="2123701"/>
                </a:cubicBezTo>
                <a:lnTo>
                  <a:pt x="64092" y="2193361"/>
                </a:lnTo>
                <a:lnTo>
                  <a:pt x="0" y="2153533"/>
                </a:lnTo>
                <a:lnTo>
                  <a:pt x="42834" y="2047277"/>
                </a:lnTo>
                <a:cubicBezTo>
                  <a:pt x="241792" y="1615775"/>
                  <a:pt x="541268" y="1241591"/>
                  <a:pt x="923582" y="915600"/>
                </a:cubicBezTo>
                <a:cubicBezTo>
                  <a:pt x="1435331" y="478415"/>
                  <a:pt x="2028081" y="205375"/>
                  <a:pt x="2686989" y="73950"/>
                </a:cubicBezTo>
                <a:cubicBezTo>
                  <a:pt x="2810367" y="49274"/>
                  <a:pt x="2934818" y="32466"/>
                  <a:pt x="3059983" y="20308"/>
                </a:cubicBezTo>
                <a:cubicBezTo>
                  <a:pt x="3185149" y="8148"/>
                  <a:pt x="3308706" y="2963"/>
                  <a:pt x="3454435" y="1176"/>
                </a:cubicBezTo>
                <a:cubicBezTo>
                  <a:pt x="3599805" y="-5977"/>
                  <a:pt x="3761985" y="20665"/>
                  <a:pt x="3923806" y="49990"/>
                </a:cubicBezTo>
                <a:cubicBezTo>
                  <a:pt x="4409449" y="137964"/>
                  <a:pt x="4886867" y="257228"/>
                  <a:pt x="5350874" y="426917"/>
                </a:cubicBezTo>
                <a:cubicBezTo>
                  <a:pt x="5797001" y="589991"/>
                  <a:pt x="6223101" y="792223"/>
                  <a:pt x="6607360" y="1075097"/>
                </a:cubicBezTo>
                <a:cubicBezTo>
                  <a:pt x="6794438" y="1212779"/>
                  <a:pt x="6965102" y="1365689"/>
                  <a:pt x="7110534" y="1541421"/>
                </a:cubicBezTo>
                <a:lnTo>
                  <a:pt x="7179830" y="1630542"/>
                </a:lnTo>
                <a:lnTo>
                  <a:pt x="7136295" y="1700600"/>
                </a:lnTo>
                <a:lnTo>
                  <a:pt x="7131140" y="1693045"/>
                </a:lnTo>
                <a:cubicBezTo>
                  <a:pt x="6977874" y="1483026"/>
                  <a:pt x="6788448" y="1305671"/>
                  <a:pt x="6577499" y="1148230"/>
                </a:cubicBezTo>
                <a:cubicBezTo>
                  <a:pt x="6245452" y="900401"/>
                  <a:pt x="5878538" y="716408"/>
                  <a:pt x="5494816" y="563527"/>
                </a:cubicBezTo>
                <a:cubicBezTo>
                  <a:pt x="5452491" y="546487"/>
                  <a:pt x="5409881" y="530036"/>
                  <a:pt x="5366967" y="514176"/>
                </a:cubicBezTo>
                <a:cubicBezTo>
                  <a:pt x="5326377" y="499156"/>
                  <a:pt x="5285430" y="485210"/>
                  <a:pt x="5244661" y="470725"/>
                </a:cubicBezTo>
                <a:cubicBezTo>
                  <a:pt x="5471517" y="572127"/>
                  <a:pt x="5691970" y="687263"/>
                  <a:pt x="5904822" y="815468"/>
                </a:cubicBezTo>
                <a:cubicBezTo>
                  <a:pt x="6336645" y="1080104"/>
                  <a:pt x="6718758" y="1400351"/>
                  <a:pt x="7015222" y="1815185"/>
                </a:cubicBezTo>
                <a:lnTo>
                  <a:pt x="7040454" y="185483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30934" y="673770"/>
            <a:ext cx="2733367" cy="24144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 Compatibility Layer (baselayer)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9" y="882315"/>
            <a:ext cx="3941065" cy="52946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900"/>
              <a:t>• Automatic environment detection: Qt or Django mode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900"/>
              <a:t>• Qt API stubs enable existing code to run without PySide2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900"/>
              <a:t>• Gradual migration path - wrappers work unchanged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900"/>
              <a:t>• Key insight: same import works in both worlds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6042039" cy="1569660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200">
                <a:latin typeface="Courier New"/>
              </a:defRPr>
            </a:pPr>
            <a:r>
              <a:rPr lang="en-GB" sz="1200"/>
              <a:t># Same wrapper code works in Qt OR Django</a:t>
            </a:r>
            <a:br>
              <a:rPr lang="en-GB" sz="1200"/>
            </a:br>
            <a:r>
              <a:rPr lang="en-GB" sz="1200"/>
              <a:t>from baselayer import QtCore, Signal, Slot</a:t>
            </a:r>
            <a:br>
              <a:rPr lang="en-GB" sz="1200"/>
            </a:br>
            <a:br>
              <a:rPr lang="en-GB" sz="1200"/>
            </a:br>
            <a:r>
              <a:rPr lang="en-GB" sz="1200"/>
              <a:t>class MyWrapper(CPluginScript):</a:t>
            </a:r>
            <a:br>
              <a:rPr lang="en-GB" sz="1200"/>
            </a:br>
            <a:r>
              <a:rPr lang="en-GB" sz="1200"/>
              <a:t>    finished = Signal(int)  # Works in both environments</a:t>
            </a:r>
            <a:br>
              <a:rPr lang="en-GB" sz="1200"/>
            </a:br>
            <a:br>
              <a:rPr lang="en-GB" sz="1200"/>
            </a:br>
            <a:r>
              <a:rPr lang="en-GB" sz="1200"/>
              <a:t>    def processOutputFiles(self):</a:t>
            </a:r>
            <a:br>
              <a:rPr lang="en-GB" sz="1200"/>
            </a:br>
            <a:r>
              <a:rPr lang="en-GB" sz="1200"/>
              <a:t>        self.finished.emit(0)  # Qt: real signal, Django: no-op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Database: QtSql vs Django 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0584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45050"/>
                </a:solidFill>
              </a:defRPr>
            </a:pPr>
            <a:r>
              <a:t>Before (Imperative SQL)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463040"/>
            <a:ext cx="4114800" cy="4572000"/>
          </a:xfrm>
          <a:prstGeom prst="rect">
            <a:avLst/>
          </a:prstGeom>
          <a:solidFill>
            <a:srgbClr val="FFF0F0"/>
          </a:solidFill>
        </p:spPr>
        <p:txBody>
          <a:bodyPr wrap="non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# Manual query construction</a:t>
            </a:r>
            <a:br/>
            <a:r>
              <a:t>db = QSqlDatabase.addDatabase("QSQLITE")</a:t>
            </a:r>
            <a:br/>
            <a:r>
              <a:t>db.setDatabaseName("project.db")</a:t>
            </a:r>
            <a:br/>
            <a:r>
              <a:t>db.open()</a:t>
            </a:r>
            <a:br/>
            <a:br/>
            <a:r>
              <a:t>query = QSqlQuery()</a:t>
            </a:r>
            <a:br/>
            <a:r>
              <a:t>query.exec_("""</a:t>
            </a:r>
            <a:br/>
            <a:r>
              <a:t>    SELECT * FROM jobs</a:t>
            </a:r>
            <a:br/>
            <a:r>
              <a:t>    WHERE status = 1</a:t>
            </a:r>
            <a:br/>
            <a:r>
              <a:t>""")</a:t>
            </a:r>
            <a:br/>
            <a:br/>
            <a:r>
              <a:t>while query.next():</a:t>
            </a:r>
            <a:br/>
            <a:r>
              <a:t>    job_id = query.value(0)</a:t>
            </a:r>
            <a:br/>
            <a:r>
              <a:t>    name = query.value(1)</a:t>
            </a:r>
            <a:br/>
            <a:r>
              <a:t>    # Manual type handling...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0584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07850"/>
                </a:solidFill>
              </a:defRPr>
            </a:pPr>
            <a:r>
              <a:t>After (Declarative ORM)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463040"/>
            <a:ext cx="4114800" cy="4572000"/>
          </a:xfrm>
          <a:prstGeom prst="rect">
            <a:avLst/>
          </a:prstGeom>
          <a:solidFill>
            <a:srgbClr val="F0FFF0"/>
          </a:solidFill>
        </p:spPr>
        <p:txBody>
          <a:bodyPr wrap="non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# Type-safe, optimized queries</a:t>
            </a:r>
            <a:br/>
            <a:r>
              <a:t>from ccp4x.db import models</a:t>
            </a:r>
            <a:br/>
            <a:br/>
            <a:r>
              <a:t># Automatic query optimization</a:t>
            </a:r>
            <a:br/>
            <a:r>
              <a:t>jobs = models.Job.objects.filter(</a:t>
            </a:r>
            <a:br/>
            <a:r>
              <a:t>    status=1</a:t>
            </a:r>
            <a:br/>
            <a:r>
              <a:t>).select_related('project')</a:t>
            </a:r>
            <a:br/>
            <a:br/>
            <a:r>
              <a:t>for job in jobs:</a:t>
            </a:r>
            <a:br/>
            <a:r>
              <a:t>    print(job.uuid)  # Type-safe</a:t>
            </a:r>
            <a:br/>
            <a:r>
              <a:t>    print(job.project.name)  # No N+1</a:t>
            </a:r>
            <a:br/>
            <a:br/>
            <a:r>
              <a:t># Migrations handled automatically</a:t>
            </a:r>
            <a:br/>
            <a:r>
              <a:t># python manage.py migrate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GUI: Procedural Qt vs Declarative React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0584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45050"/>
                </a:solidFill>
              </a:defRPr>
            </a:pPr>
            <a:r>
              <a:t>Procedural Qt (*_gui.py)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463040"/>
            <a:ext cx="4114800" cy="4572000"/>
          </a:xfrm>
          <a:prstGeom prst="rect">
            <a:avLst/>
          </a:prstGeom>
          <a:solidFill>
            <a:srgbClr val="FFF0F0"/>
          </a:solidFill>
        </p:spPr>
        <p:txBody>
          <a:bodyPr wrap="non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# phaser_pipeline_gui.py</a:t>
            </a:r>
            <a:br/>
            <a:r>
              <a:t>class phaser_pipeline_gui(CTaskWidget):</a:t>
            </a:r>
            <a:br/>
            <a:br/>
            <a:r>
              <a:t>  def drawContents(self):</a:t>
            </a:r>
            <a:br/>
            <a:r>
              <a:t>    self.openFolder(title='Input')</a:t>
            </a:r>
            <a:br/>
            <a:r>
              <a:t>    self.drawReflectionPanel()</a:t>
            </a:r>
            <a:br/>
            <a:r>
              <a:t>    self.openFolder(title='Keywords')</a:t>
            </a:r>
            <a:br/>
            <a:br/>
            <a:r>
              <a:t>  def drawReflectionPanel(self):</a:t>
            </a:r>
            <a:br/>
            <a:r>
              <a:t>    self.createLine(['subtitle', 'Reflections'])</a:t>
            </a:r>
            <a:br/>
            <a:r>
              <a:t>    self.openSubFrame(frame=True)</a:t>
            </a:r>
            <a:br/>
            <a:r>
              <a:t>    self.createLine(['widget', 'F_SIGF'])</a:t>
            </a:r>
            <a:br/>
            <a:r>
              <a:t>    self.createLine([</a:t>
            </a:r>
            <a:br/>
            <a:r>
              <a:t>      'label','Resolution',</a:t>
            </a:r>
            <a:br/>
            <a:r>
              <a:t>      'widget', 'RESOLUTION_LOW',</a:t>
            </a:r>
            <a:br/>
            <a:r>
              <a:t>      'widget', 'RESOLUTION_HIGH'</a:t>
            </a:r>
            <a:br/>
            <a:r>
              <a:t>    ])</a:t>
            </a:r>
            <a:br/>
            <a:r>
              <a:t>    # Manual signal connection</a:t>
            </a:r>
            <a:br/>
            <a:r>
              <a:t>    self.container.inputData.F_SIGF\</a:t>
            </a:r>
            <a:br/>
            <a:r>
              <a:t>      .dataChanged.connect(self.update)</a:t>
            </a:r>
            <a:br/>
            <a:r>
              <a:t>    self.closeSubFrame()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0584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07850"/>
                </a:solidFill>
              </a:defRPr>
            </a:pPr>
            <a:r>
              <a:t>Declarative React (Modern)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463040"/>
            <a:ext cx="4114800" cy="4572000"/>
          </a:xfrm>
          <a:prstGeom prst="rect">
            <a:avLst/>
          </a:prstGeom>
          <a:solidFill>
            <a:srgbClr val="F0FFF0"/>
          </a:solidFill>
        </p:spPr>
        <p:txBody>
          <a:bodyPr wrap="non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// aimless_pipe.tsx</a:t>
            </a:r>
            <a:br/>
            <a:r>
              <a:t>export const AimlessPipeInterface = ({job}) =&gt; {</a:t>
            </a:r>
            <a:br/>
            <a:r>
              <a:t>  return (</a:t>
            </a:r>
            <a:br/>
            <a:r>
              <a:t>    &lt;Stack spacing={2}&gt;</a:t>
            </a:r>
            <a:br/>
            <a:r>
              <a:t>      &lt;CCP4i2TaskElement</a:t>
            </a:r>
            <a:br/>
            <a:r>
              <a:t>        job={job}</a:t>
            </a:r>
            <a:br/>
            <a:r>
              <a:t>        itemName="inputData.F_SIGF"</a:t>
            </a:r>
            <a:br/>
            <a:r>
              <a:t>      /&gt;</a:t>
            </a:r>
            <a:br/>
            <a:r>
              <a:t>      &lt;CCP4i2TaskElement</a:t>
            </a:r>
            <a:br/>
            <a:r>
              <a:t>        job={job}</a:t>
            </a:r>
            <a:br/>
            <a:r>
              <a:t>        itemName="inputData.RESOLUTION"</a:t>
            </a:r>
            <a:br/>
            <a:r>
              <a:t>        qualifiers={{guiLabel: "Resolution"}}</a:t>
            </a:r>
            <a:br/>
            <a:r>
              <a:t>      /&gt;</a:t>
            </a:r>
            <a:br/>
            <a:r>
              <a:t>    &lt;/Stack&gt;</a:t>
            </a:r>
            <a:br/>
            <a:r>
              <a:t>  );</a:t>
            </a:r>
            <a:br/>
            <a:r>
              <a:t>};</a:t>
            </a:r>
            <a:br/>
            <a:br/>
            <a:r>
              <a:t>// Components auto-render from schema</a:t>
            </a:r>
            <a:br/>
            <a:r>
              <a:t>// State managed by React hooks</a:t>
            </a:r>
            <a:br/>
            <a:r>
              <a:t>// REST API for data fetching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27FF362-FC97-4BF5-949B-D4ADFA26E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888549">
            <a:off x="-794604" y="-1108988"/>
            <a:ext cx="5384871" cy="5226565"/>
          </a:xfrm>
          <a:custGeom>
            <a:avLst/>
            <a:gdLst>
              <a:gd name="connsiteX0" fmla="*/ 5217841 w 7179830"/>
              <a:gd name="connsiteY0" fmla="*/ 464824 h 5226565"/>
              <a:gd name="connsiteX1" fmla="*/ 5222490 w 7179830"/>
              <a:gd name="connsiteY1" fmla="*/ 464289 h 5226565"/>
              <a:gd name="connsiteX2" fmla="*/ 5216768 w 7179830"/>
              <a:gd name="connsiteY2" fmla="*/ 463394 h 5226565"/>
              <a:gd name="connsiteX3" fmla="*/ 5217841 w 7179830"/>
              <a:gd name="connsiteY3" fmla="*/ 464824 h 5226565"/>
              <a:gd name="connsiteX4" fmla="*/ 4945201 w 7179830"/>
              <a:gd name="connsiteY4" fmla="*/ 5226565 h 5226565"/>
              <a:gd name="connsiteX5" fmla="*/ 140449 w 7179830"/>
              <a:gd name="connsiteY5" fmla="*/ 2240811 h 5226565"/>
              <a:gd name="connsiteX6" fmla="*/ 232913 w 7179830"/>
              <a:gd name="connsiteY6" fmla="*/ 2052782 h 5226565"/>
              <a:gd name="connsiteX7" fmla="*/ 375714 w 7179830"/>
              <a:gd name="connsiteY7" fmla="*/ 1803205 h 5226565"/>
              <a:gd name="connsiteX8" fmla="*/ 1512756 w 7179830"/>
              <a:gd name="connsiteY8" fmla="*/ 638448 h 5226565"/>
              <a:gd name="connsiteX9" fmla="*/ 2902095 w 7179830"/>
              <a:gd name="connsiteY9" fmla="*/ 120440 h 5226565"/>
              <a:gd name="connsiteX10" fmla="*/ 2848453 w 7179830"/>
              <a:gd name="connsiteY10" fmla="*/ 125626 h 5226565"/>
              <a:gd name="connsiteX11" fmla="*/ 1837830 w 7179830"/>
              <a:gd name="connsiteY11" fmla="*/ 426203 h 5226565"/>
              <a:gd name="connsiteX12" fmla="*/ 214608 w 7179830"/>
              <a:gd name="connsiteY12" fmla="*/ 1882239 h 5226565"/>
              <a:gd name="connsiteX13" fmla="*/ 91317 w 7179830"/>
              <a:gd name="connsiteY13" fmla="*/ 2123701 h 5226565"/>
              <a:gd name="connsiteX14" fmla="*/ 64092 w 7179830"/>
              <a:gd name="connsiteY14" fmla="*/ 2193361 h 5226565"/>
              <a:gd name="connsiteX15" fmla="*/ 0 w 7179830"/>
              <a:gd name="connsiteY15" fmla="*/ 2153533 h 5226565"/>
              <a:gd name="connsiteX16" fmla="*/ 42834 w 7179830"/>
              <a:gd name="connsiteY16" fmla="*/ 2047277 h 5226565"/>
              <a:gd name="connsiteX17" fmla="*/ 923582 w 7179830"/>
              <a:gd name="connsiteY17" fmla="*/ 915600 h 5226565"/>
              <a:gd name="connsiteX18" fmla="*/ 2686989 w 7179830"/>
              <a:gd name="connsiteY18" fmla="*/ 73950 h 5226565"/>
              <a:gd name="connsiteX19" fmla="*/ 3059983 w 7179830"/>
              <a:gd name="connsiteY19" fmla="*/ 20308 h 5226565"/>
              <a:gd name="connsiteX20" fmla="*/ 3454435 w 7179830"/>
              <a:gd name="connsiteY20" fmla="*/ 1176 h 5226565"/>
              <a:gd name="connsiteX21" fmla="*/ 3923806 w 7179830"/>
              <a:gd name="connsiteY21" fmla="*/ 49990 h 5226565"/>
              <a:gd name="connsiteX22" fmla="*/ 5350874 w 7179830"/>
              <a:gd name="connsiteY22" fmla="*/ 426917 h 5226565"/>
              <a:gd name="connsiteX23" fmla="*/ 6607360 w 7179830"/>
              <a:gd name="connsiteY23" fmla="*/ 1075097 h 5226565"/>
              <a:gd name="connsiteX24" fmla="*/ 7110534 w 7179830"/>
              <a:gd name="connsiteY24" fmla="*/ 1541421 h 5226565"/>
              <a:gd name="connsiteX25" fmla="*/ 7179830 w 7179830"/>
              <a:gd name="connsiteY25" fmla="*/ 1630542 h 5226565"/>
              <a:gd name="connsiteX26" fmla="*/ 7136295 w 7179830"/>
              <a:gd name="connsiteY26" fmla="*/ 1700600 h 5226565"/>
              <a:gd name="connsiteX27" fmla="*/ 7131140 w 7179830"/>
              <a:gd name="connsiteY27" fmla="*/ 1693045 h 5226565"/>
              <a:gd name="connsiteX28" fmla="*/ 6577499 w 7179830"/>
              <a:gd name="connsiteY28" fmla="*/ 1148230 h 5226565"/>
              <a:gd name="connsiteX29" fmla="*/ 5494816 w 7179830"/>
              <a:gd name="connsiteY29" fmla="*/ 563527 h 5226565"/>
              <a:gd name="connsiteX30" fmla="*/ 5366967 w 7179830"/>
              <a:gd name="connsiteY30" fmla="*/ 514176 h 5226565"/>
              <a:gd name="connsiteX31" fmla="*/ 5244661 w 7179830"/>
              <a:gd name="connsiteY31" fmla="*/ 470725 h 5226565"/>
              <a:gd name="connsiteX32" fmla="*/ 5904822 w 7179830"/>
              <a:gd name="connsiteY32" fmla="*/ 815468 h 5226565"/>
              <a:gd name="connsiteX33" fmla="*/ 7015222 w 7179830"/>
              <a:gd name="connsiteY33" fmla="*/ 1815185 h 5226565"/>
              <a:gd name="connsiteX34" fmla="*/ 7040454 w 7179830"/>
              <a:gd name="connsiteY34" fmla="*/ 1854830 h 5226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7179830" h="5226565">
                <a:moveTo>
                  <a:pt x="5217841" y="464824"/>
                </a:moveTo>
                <a:lnTo>
                  <a:pt x="5222490" y="464289"/>
                </a:lnTo>
                <a:lnTo>
                  <a:pt x="5216768" y="463394"/>
                </a:lnTo>
                <a:cubicBezTo>
                  <a:pt x="5216768" y="463394"/>
                  <a:pt x="5216768" y="464646"/>
                  <a:pt x="5217841" y="464824"/>
                </a:cubicBezTo>
                <a:close/>
                <a:moveTo>
                  <a:pt x="4945201" y="5226565"/>
                </a:moveTo>
                <a:lnTo>
                  <a:pt x="140449" y="2240811"/>
                </a:lnTo>
                <a:lnTo>
                  <a:pt x="232913" y="2052782"/>
                </a:lnTo>
                <a:cubicBezTo>
                  <a:pt x="277693" y="1968290"/>
                  <a:pt x="325201" y="1885054"/>
                  <a:pt x="375714" y="1803205"/>
                </a:cubicBezTo>
                <a:cubicBezTo>
                  <a:pt x="667528" y="1329721"/>
                  <a:pt x="1039629" y="935091"/>
                  <a:pt x="1512756" y="638448"/>
                </a:cubicBezTo>
                <a:cubicBezTo>
                  <a:pt x="1939392" y="370950"/>
                  <a:pt x="2405724" y="210560"/>
                  <a:pt x="2902095" y="120440"/>
                </a:cubicBezTo>
                <a:cubicBezTo>
                  <a:pt x="2884054" y="118134"/>
                  <a:pt x="2865727" y="119904"/>
                  <a:pt x="2848453" y="125626"/>
                </a:cubicBezTo>
                <a:cubicBezTo>
                  <a:pt x="2498704" y="175943"/>
                  <a:pt x="2158217" y="277201"/>
                  <a:pt x="1837830" y="426203"/>
                </a:cubicBezTo>
                <a:cubicBezTo>
                  <a:pt x="1147094" y="744660"/>
                  <a:pt x="593502" y="1217071"/>
                  <a:pt x="214608" y="1882239"/>
                </a:cubicBezTo>
                <a:cubicBezTo>
                  <a:pt x="169441" y="1960776"/>
                  <a:pt x="128308" y="2041369"/>
                  <a:pt x="91317" y="2123701"/>
                </a:cubicBezTo>
                <a:lnTo>
                  <a:pt x="64092" y="2193361"/>
                </a:lnTo>
                <a:lnTo>
                  <a:pt x="0" y="2153533"/>
                </a:lnTo>
                <a:lnTo>
                  <a:pt x="42834" y="2047277"/>
                </a:lnTo>
                <a:cubicBezTo>
                  <a:pt x="241792" y="1615775"/>
                  <a:pt x="541268" y="1241591"/>
                  <a:pt x="923582" y="915600"/>
                </a:cubicBezTo>
                <a:cubicBezTo>
                  <a:pt x="1435331" y="478415"/>
                  <a:pt x="2028081" y="205375"/>
                  <a:pt x="2686989" y="73950"/>
                </a:cubicBezTo>
                <a:cubicBezTo>
                  <a:pt x="2810367" y="49274"/>
                  <a:pt x="2934818" y="32466"/>
                  <a:pt x="3059983" y="20308"/>
                </a:cubicBezTo>
                <a:cubicBezTo>
                  <a:pt x="3185149" y="8148"/>
                  <a:pt x="3308706" y="2963"/>
                  <a:pt x="3454435" y="1176"/>
                </a:cubicBezTo>
                <a:cubicBezTo>
                  <a:pt x="3599805" y="-5977"/>
                  <a:pt x="3761985" y="20665"/>
                  <a:pt x="3923806" y="49990"/>
                </a:cubicBezTo>
                <a:cubicBezTo>
                  <a:pt x="4409449" y="137964"/>
                  <a:pt x="4886867" y="257228"/>
                  <a:pt x="5350874" y="426917"/>
                </a:cubicBezTo>
                <a:cubicBezTo>
                  <a:pt x="5797001" y="589991"/>
                  <a:pt x="6223101" y="792223"/>
                  <a:pt x="6607360" y="1075097"/>
                </a:cubicBezTo>
                <a:cubicBezTo>
                  <a:pt x="6794438" y="1212779"/>
                  <a:pt x="6965102" y="1365689"/>
                  <a:pt x="7110534" y="1541421"/>
                </a:cubicBezTo>
                <a:lnTo>
                  <a:pt x="7179830" y="1630542"/>
                </a:lnTo>
                <a:lnTo>
                  <a:pt x="7136295" y="1700600"/>
                </a:lnTo>
                <a:lnTo>
                  <a:pt x="7131140" y="1693045"/>
                </a:lnTo>
                <a:cubicBezTo>
                  <a:pt x="6977874" y="1483026"/>
                  <a:pt x="6788448" y="1305671"/>
                  <a:pt x="6577499" y="1148230"/>
                </a:cubicBezTo>
                <a:cubicBezTo>
                  <a:pt x="6245452" y="900401"/>
                  <a:pt x="5878538" y="716408"/>
                  <a:pt x="5494816" y="563527"/>
                </a:cubicBezTo>
                <a:cubicBezTo>
                  <a:pt x="5452491" y="546487"/>
                  <a:pt x="5409881" y="530036"/>
                  <a:pt x="5366967" y="514176"/>
                </a:cubicBezTo>
                <a:cubicBezTo>
                  <a:pt x="5326377" y="499156"/>
                  <a:pt x="5285430" y="485210"/>
                  <a:pt x="5244661" y="470725"/>
                </a:cubicBezTo>
                <a:cubicBezTo>
                  <a:pt x="5471517" y="572127"/>
                  <a:pt x="5691970" y="687263"/>
                  <a:pt x="5904822" y="815468"/>
                </a:cubicBezTo>
                <a:cubicBezTo>
                  <a:pt x="6336645" y="1080104"/>
                  <a:pt x="6718758" y="1400351"/>
                  <a:pt x="7015222" y="1815185"/>
                </a:cubicBezTo>
                <a:lnTo>
                  <a:pt x="7040454" y="185483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30934" y="673770"/>
            <a:ext cx="2733367" cy="24144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4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CLI: i2run &amp; i2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9" y="882315"/>
            <a:ext cx="3941065" cy="52946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900"/>
              <a:t>• i2run: Task execution compatible with legacy scripts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900"/>
              <a:t>• i2: Modern resource-oriented interface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900"/>
              <a:t>• Django management commands for administration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900"/>
              <a:t>• Dual-mode: automatically detects Qt vs Django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5484194" cy="2677656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200">
                <a:latin typeface="Courier New"/>
              </a:defRPr>
            </a:pPr>
            <a:r>
              <a:rPr lang="en-GB" sz="1200"/>
              <a:t># Task execution (both modes)</a:t>
            </a:r>
            <a:br>
              <a:rPr lang="en-GB" sz="1200"/>
            </a:br>
            <a:r>
              <a:rPr lang="en-GB" sz="1200"/>
              <a:t>i2run phaser_pipeline --XYZIN model.pdb --HKLIN data.mtz</a:t>
            </a:r>
            <a:br>
              <a:rPr lang="en-GB" sz="1200"/>
            </a:br>
            <a:br>
              <a:rPr lang="en-GB" sz="1200"/>
            </a:br>
            <a:r>
              <a:rPr lang="en-GB" sz="1200"/>
              <a:t># Modern resource management (Django mode)</a:t>
            </a:r>
            <a:br>
              <a:rPr lang="en-GB" sz="1200"/>
            </a:br>
            <a:r>
              <a:rPr lang="en-GB" sz="1200"/>
              <a:t>i2 projects list                    # List all projects</a:t>
            </a:r>
            <a:br>
              <a:rPr lang="en-GB" sz="1200"/>
            </a:br>
            <a:r>
              <a:rPr lang="en-GB" sz="1200"/>
              <a:t>i2 projects create "New Project"    # Create project</a:t>
            </a:r>
            <a:br>
              <a:rPr lang="en-GB" sz="1200"/>
            </a:br>
            <a:r>
              <a:rPr lang="en-GB" sz="1200"/>
              <a:t>i2 jobs 1 tree                      # Show job tree</a:t>
            </a:r>
            <a:br>
              <a:rPr lang="en-GB" sz="1200"/>
            </a:br>
            <a:r>
              <a:rPr lang="en-GB" sz="1200"/>
              <a:t>i2 run phaser_pipeline [opts]       # i2run compatible</a:t>
            </a:r>
            <a:br>
              <a:rPr lang="en-GB" sz="1200"/>
            </a:br>
            <a:r>
              <a:rPr lang="en-GB" sz="1200"/>
              <a:t>i2 files 42 list                    # List job files</a:t>
            </a:r>
            <a:br>
              <a:rPr lang="en-GB" sz="1200"/>
            </a:br>
            <a:r>
              <a:rPr lang="en-GB" sz="1200"/>
              <a:t>i2 report 42                        # Generate report</a:t>
            </a:r>
            <a:br>
              <a:rPr lang="en-GB" sz="1200"/>
            </a:br>
            <a:br>
              <a:rPr lang="en-GB" sz="1200"/>
            </a:br>
            <a:r>
              <a:rPr lang="en-GB" sz="1200"/>
              <a:t># Django management</a:t>
            </a:r>
            <a:br>
              <a:rPr lang="en-GB" sz="1200"/>
            </a:br>
            <a:r>
              <a:rPr lang="en-GB" sz="1200"/>
              <a:t>python manage.py migrate            # Database migrations</a:t>
            </a:r>
            <a:br>
              <a:rPr lang="en-GB" sz="1200"/>
            </a:br>
            <a:r>
              <a:rPr lang="en-GB" sz="1200"/>
              <a:t>python manage.py createproject      # Create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27FF362-FC97-4BF5-949B-D4ADFA26E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8888549">
            <a:off x="-794604" y="-1108988"/>
            <a:ext cx="5384871" cy="5226565"/>
          </a:xfrm>
          <a:custGeom>
            <a:avLst/>
            <a:gdLst>
              <a:gd name="connsiteX0" fmla="*/ 5217841 w 7179830"/>
              <a:gd name="connsiteY0" fmla="*/ 464824 h 5226565"/>
              <a:gd name="connsiteX1" fmla="*/ 5222490 w 7179830"/>
              <a:gd name="connsiteY1" fmla="*/ 464289 h 5226565"/>
              <a:gd name="connsiteX2" fmla="*/ 5216768 w 7179830"/>
              <a:gd name="connsiteY2" fmla="*/ 463394 h 5226565"/>
              <a:gd name="connsiteX3" fmla="*/ 5217841 w 7179830"/>
              <a:gd name="connsiteY3" fmla="*/ 464824 h 5226565"/>
              <a:gd name="connsiteX4" fmla="*/ 4945201 w 7179830"/>
              <a:gd name="connsiteY4" fmla="*/ 5226565 h 5226565"/>
              <a:gd name="connsiteX5" fmla="*/ 140449 w 7179830"/>
              <a:gd name="connsiteY5" fmla="*/ 2240811 h 5226565"/>
              <a:gd name="connsiteX6" fmla="*/ 232913 w 7179830"/>
              <a:gd name="connsiteY6" fmla="*/ 2052782 h 5226565"/>
              <a:gd name="connsiteX7" fmla="*/ 375714 w 7179830"/>
              <a:gd name="connsiteY7" fmla="*/ 1803205 h 5226565"/>
              <a:gd name="connsiteX8" fmla="*/ 1512756 w 7179830"/>
              <a:gd name="connsiteY8" fmla="*/ 638448 h 5226565"/>
              <a:gd name="connsiteX9" fmla="*/ 2902095 w 7179830"/>
              <a:gd name="connsiteY9" fmla="*/ 120440 h 5226565"/>
              <a:gd name="connsiteX10" fmla="*/ 2848453 w 7179830"/>
              <a:gd name="connsiteY10" fmla="*/ 125626 h 5226565"/>
              <a:gd name="connsiteX11" fmla="*/ 1837830 w 7179830"/>
              <a:gd name="connsiteY11" fmla="*/ 426203 h 5226565"/>
              <a:gd name="connsiteX12" fmla="*/ 214608 w 7179830"/>
              <a:gd name="connsiteY12" fmla="*/ 1882239 h 5226565"/>
              <a:gd name="connsiteX13" fmla="*/ 91317 w 7179830"/>
              <a:gd name="connsiteY13" fmla="*/ 2123701 h 5226565"/>
              <a:gd name="connsiteX14" fmla="*/ 64092 w 7179830"/>
              <a:gd name="connsiteY14" fmla="*/ 2193361 h 5226565"/>
              <a:gd name="connsiteX15" fmla="*/ 0 w 7179830"/>
              <a:gd name="connsiteY15" fmla="*/ 2153533 h 5226565"/>
              <a:gd name="connsiteX16" fmla="*/ 42834 w 7179830"/>
              <a:gd name="connsiteY16" fmla="*/ 2047277 h 5226565"/>
              <a:gd name="connsiteX17" fmla="*/ 923582 w 7179830"/>
              <a:gd name="connsiteY17" fmla="*/ 915600 h 5226565"/>
              <a:gd name="connsiteX18" fmla="*/ 2686989 w 7179830"/>
              <a:gd name="connsiteY18" fmla="*/ 73950 h 5226565"/>
              <a:gd name="connsiteX19" fmla="*/ 3059983 w 7179830"/>
              <a:gd name="connsiteY19" fmla="*/ 20308 h 5226565"/>
              <a:gd name="connsiteX20" fmla="*/ 3454435 w 7179830"/>
              <a:gd name="connsiteY20" fmla="*/ 1176 h 5226565"/>
              <a:gd name="connsiteX21" fmla="*/ 3923806 w 7179830"/>
              <a:gd name="connsiteY21" fmla="*/ 49990 h 5226565"/>
              <a:gd name="connsiteX22" fmla="*/ 5350874 w 7179830"/>
              <a:gd name="connsiteY22" fmla="*/ 426917 h 5226565"/>
              <a:gd name="connsiteX23" fmla="*/ 6607360 w 7179830"/>
              <a:gd name="connsiteY23" fmla="*/ 1075097 h 5226565"/>
              <a:gd name="connsiteX24" fmla="*/ 7110534 w 7179830"/>
              <a:gd name="connsiteY24" fmla="*/ 1541421 h 5226565"/>
              <a:gd name="connsiteX25" fmla="*/ 7179830 w 7179830"/>
              <a:gd name="connsiteY25" fmla="*/ 1630542 h 5226565"/>
              <a:gd name="connsiteX26" fmla="*/ 7136295 w 7179830"/>
              <a:gd name="connsiteY26" fmla="*/ 1700600 h 5226565"/>
              <a:gd name="connsiteX27" fmla="*/ 7131140 w 7179830"/>
              <a:gd name="connsiteY27" fmla="*/ 1693045 h 5226565"/>
              <a:gd name="connsiteX28" fmla="*/ 6577499 w 7179830"/>
              <a:gd name="connsiteY28" fmla="*/ 1148230 h 5226565"/>
              <a:gd name="connsiteX29" fmla="*/ 5494816 w 7179830"/>
              <a:gd name="connsiteY29" fmla="*/ 563527 h 5226565"/>
              <a:gd name="connsiteX30" fmla="*/ 5366967 w 7179830"/>
              <a:gd name="connsiteY30" fmla="*/ 514176 h 5226565"/>
              <a:gd name="connsiteX31" fmla="*/ 5244661 w 7179830"/>
              <a:gd name="connsiteY31" fmla="*/ 470725 h 5226565"/>
              <a:gd name="connsiteX32" fmla="*/ 5904822 w 7179830"/>
              <a:gd name="connsiteY32" fmla="*/ 815468 h 5226565"/>
              <a:gd name="connsiteX33" fmla="*/ 7015222 w 7179830"/>
              <a:gd name="connsiteY33" fmla="*/ 1815185 h 5226565"/>
              <a:gd name="connsiteX34" fmla="*/ 7040454 w 7179830"/>
              <a:gd name="connsiteY34" fmla="*/ 1854830 h 5226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7179830" h="5226565">
                <a:moveTo>
                  <a:pt x="5217841" y="464824"/>
                </a:moveTo>
                <a:lnTo>
                  <a:pt x="5222490" y="464289"/>
                </a:lnTo>
                <a:lnTo>
                  <a:pt x="5216768" y="463394"/>
                </a:lnTo>
                <a:cubicBezTo>
                  <a:pt x="5216768" y="463394"/>
                  <a:pt x="5216768" y="464646"/>
                  <a:pt x="5217841" y="464824"/>
                </a:cubicBezTo>
                <a:close/>
                <a:moveTo>
                  <a:pt x="4945201" y="5226565"/>
                </a:moveTo>
                <a:lnTo>
                  <a:pt x="140449" y="2240811"/>
                </a:lnTo>
                <a:lnTo>
                  <a:pt x="232913" y="2052782"/>
                </a:lnTo>
                <a:cubicBezTo>
                  <a:pt x="277693" y="1968290"/>
                  <a:pt x="325201" y="1885054"/>
                  <a:pt x="375714" y="1803205"/>
                </a:cubicBezTo>
                <a:cubicBezTo>
                  <a:pt x="667528" y="1329721"/>
                  <a:pt x="1039629" y="935091"/>
                  <a:pt x="1512756" y="638448"/>
                </a:cubicBezTo>
                <a:cubicBezTo>
                  <a:pt x="1939392" y="370950"/>
                  <a:pt x="2405724" y="210560"/>
                  <a:pt x="2902095" y="120440"/>
                </a:cubicBezTo>
                <a:cubicBezTo>
                  <a:pt x="2884054" y="118134"/>
                  <a:pt x="2865727" y="119904"/>
                  <a:pt x="2848453" y="125626"/>
                </a:cubicBezTo>
                <a:cubicBezTo>
                  <a:pt x="2498704" y="175943"/>
                  <a:pt x="2158217" y="277201"/>
                  <a:pt x="1837830" y="426203"/>
                </a:cubicBezTo>
                <a:cubicBezTo>
                  <a:pt x="1147094" y="744660"/>
                  <a:pt x="593502" y="1217071"/>
                  <a:pt x="214608" y="1882239"/>
                </a:cubicBezTo>
                <a:cubicBezTo>
                  <a:pt x="169441" y="1960776"/>
                  <a:pt x="128308" y="2041369"/>
                  <a:pt x="91317" y="2123701"/>
                </a:cubicBezTo>
                <a:lnTo>
                  <a:pt x="64092" y="2193361"/>
                </a:lnTo>
                <a:lnTo>
                  <a:pt x="0" y="2153533"/>
                </a:lnTo>
                <a:lnTo>
                  <a:pt x="42834" y="2047277"/>
                </a:lnTo>
                <a:cubicBezTo>
                  <a:pt x="241792" y="1615775"/>
                  <a:pt x="541268" y="1241591"/>
                  <a:pt x="923582" y="915600"/>
                </a:cubicBezTo>
                <a:cubicBezTo>
                  <a:pt x="1435331" y="478415"/>
                  <a:pt x="2028081" y="205375"/>
                  <a:pt x="2686989" y="73950"/>
                </a:cubicBezTo>
                <a:cubicBezTo>
                  <a:pt x="2810367" y="49274"/>
                  <a:pt x="2934818" y="32466"/>
                  <a:pt x="3059983" y="20308"/>
                </a:cubicBezTo>
                <a:cubicBezTo>
                  <a:pt x="3185149" y="8148"/>
                  <a:pt x="3308706" y="2963"/>
                  <a:pt x="3454435" y="1176"/>
                </a:cubicBezTo>
                <a:cubicBezTo>
                  <a:pt x="3599805" y="-5977"/>
                  <a:pt x="3761985" y="20665"/>
                  <a:pt x="3923806" y="49990"/>
                </a:cubicBezTo>
                <a:cubicBezTo>
                  <a:pt x="4409449" y="137964"/>
                  <a:pt x="4886867" y="257228"/>
                  <a:pt x="5350874" y="426917"/>
                </a:cubicBezTo>
                <a:cubicBezTo>
                  <a:pt x="5797001" y="589991"/>
                  <a:pt x="6223101" y="792223"/>
                  <a:pt x="6607360" y="1075097"/>
                </a:cubicBezTo>
                <a:cubicBezTo>
                  <a:pt x="6794438" y="1212779"/>
                  <a:pt x="6965102" y="1365689"/>
                  <a:pt x="7110534" y="1541421"/>
                </a:cubicBezTo>
                <a:lnTo>
                  <a:pt x="7179830" y="1630542"/>
                </a:lnTo>
                <a:lnTo>
                  <a:pt x="7136295" y="1700600"/>
                </a:lnTo>
                <a:lnTo>
                  <a:pt x="7131140" y="1693045"/>
                </a:lnTo>
                <a:cubicBezTo>
                  <a:pt x="6977874" y="1483026"/>
                  <a:pt x="6788448" y="1305671"/>
                  <a:pt x="6577499" y="1148230"/>
                </a:cubicBezTo>
                <a:cubicBezTo>
                  <a:pt x="6245452" y="900401"/>
                  <a:pt x="5878538" y="716408"/>
                  <a:pt x="5494816" y="563527"/>
                </a:cubicBezTo>
                <a:cubicBezTo>
                  <a:pt x="5452491" y="546487"/>
                  <a:pt x="5409881" y="530036"/>
                  <a:pt x="5366967" y="514176"/>
                </a:cubicBezTo>
                <a:cubicBezTo>
                  <a:pt x="5326377" y="499156"/>
                  <a:pt x="5285430" y="485210"/>
                  <a:pt x="5244661" y="470725"/>
                </a:cubicBezTo>
                <a:cubicBezTo>
                  <a:pt x="5471517" y="572127"/>
                  <a:pt x="5691970" y="687263"/>
                  <a:pt x="5904822" y="815468"/>
                </a:cubicBezTo>
                <a:cubicBezTo>
                  <a:pt x="6336645" y="1080104"/>
                  <a:pt x="6718758" y="1400351"/>
                  <a:pt x="7015222" y="1815185"/>
                </a:cubicBezTo>
                <a:lnTo>
                  <a:pt x="7040454" y="1854830"/>
                </a:lnTo>
                <a:close/>
              </a:path>
            </a:pathLst>
          </a:cu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30934" y="673770"/>
            <a:ext cx="2733367" cy="24144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4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Frontend: React / Electron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9" y="882315"/>
            <a:ext cx="3941065" cy="52946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900"/>
              <a:t>• React 19 + TypeScript - type-safe, component-based architecture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900"/>
              <a:t>• Moorhen integration for 3D structure visualization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900"/>
              <a:t>• Standard tooling: npm, ESLint, Prettier, Jest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900"/>
              <a:t>• Easier onboarding - widely-known frameworks and patterns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900"/>
              <a:t>• Composable, testable components with clear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4182555" cy="3231654"/>
          </a:xfrm>
          <a:prstGeom prst="rect">
            <a:avLst/>
          </a:prstGeom>
          <a:solidFill>
            <a:srgbClr val="F0F0F0"/>
          </a:solidFill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200">
                <a:latin typeface="Courier New"/>
              </a:defRPr>
            </a:pPr>
            <a:r>
              <a:rPr lang="en-GB" sz="1200"/>
              <a:t>// TypeScript models mirror Django</a:t>
            </a:r>
            <a:br>
              <a:rPr lang="en-GB" sz="1200"/>
            </a:br>
            <a:r>
              <a:rPr lang="en-GB" sz="1200"/>
              <a:t>interface Job {</a:t>
            </a:r>
            <a:br>
              <a:rPr lang="en-GB" sz="1200"/>
            </a:br>
            <a:r>
              <a:rPr lang="en-GB" sz="1200"/>
              <a:t>  uuid: string;</a:t>
            </a:r>
            <a:br>
              <a:rPr lang="en-GB" sz="1200"/>
            </a:br>
            <a:r>
              <a:rPr lang="en-GB" sz="1200"/>
              <a:t>  status: JobStatus;</a:t>
            </a:r>
            <a:br>
              <a:rPr lang="en-GB" sz="1200"/>
            </a:br>
            <a:r>
              <a:rPr lang="en-GB" sz="1200"/>
              <a:t>  project: Project;</a:t>
            </a:r>
            <a:br>
              <a:rPr lang="en-GB" sz="1200"/>
            </a:br>
            <a:r>
              <a:rPr lang="en-GB" sz="1200"/>
              <a:t>  taskname: string;</a:t>
            </a:r>
            <a:br>
              <a:rPr lang="en-GB" sz="1200"/>
            </a:br>
            <a:r>
              <a:rPr lang="en-GB" sz="1200"/>
              <a:t>}</a:t>
            </a:r>
            <a:br>
              <a:rPr lang="en-GB" sz="1200"/>
            </a:br>
            <a:br>
              <a:rPr lang="en-GB" sz="1200"/>
            </a:br>
            <a:r>
              <a:rPr lang="en-GB" sz="1200"/>
              <a:t>// React hooks for data fetching</a:t>
            </a:r>
            <a:br>
              <a:rPr lang="en-GB" sz="1200"/>
            </a:br>
            <a:r>
              <a:rPr lang="en-GB" sz="1200"/>
              <a:t>const { job, mutate } = useJob(jobId);</a:t>
            </a:r>
            <a:br>
              <a:rPr lang="en-GB" sz="1200"/>
            </a:br>
            <a:r>
              <a:rPr lang="en-GB" sz="1200"/>
              <a:t>const { data: files } = useJobFiles(jobId);</a:t>
            </a:r>
            <a:br>
              <a:rPr lang="en-GB" sz="1200"/>
            </a:br>
            <a:br>
              <a:rPr lang="en-GB" sz="1200"/>
            </a:br>
            <a:r>
              <a:rPr lang="en-GB" sz="1200"/>
              <a:t>// Declarative UI composition</a:t>
            </a:r>
            <a:br>
              <a:rPr lang="en-GB" sz="1200"/>
            </a:br>
            <a:r>
              <a:rPr lang="en-GB" sz="1200"/>
              <a:t>&lt;JobView job={job}&gt;</a:t>
            </a:r>
            <a:br>
              <a:rPr lang="en-GB" sz="1200"/>
            </a:br>
            <a:r>
              <a:rPr lang="en-GB" sz="1200"/>
              <a:t>  &lt;TaskInterface /&gt;</a:t>
            </a:r>
            <a:br>
              <a:rPr lang="en-GB" sz="1200"/>
            </a:br>
            <a:r>
              <a:rPr lang="en-GB" sz="1200"/>
              <a:t>  &lt;MoorhenViewer structure={outputPdb} /&gt;</a:t>
            </a:r>
            <a:br>
              <a:rPr lang="en-GB" sz="1200"/>
            </a:br>
            <a:r>
              <a:rPr lang="en-GB" sz="1200"/>
              <a:t>&lt;/JobView&gt;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Execution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0584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45050"/>
                </a:solidFill>
              </a:defRPr>
            </a:pPr>
            <a:r>
              <a:t>Qt (Synchronous, Coupled)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463040"/>
            <a:ext cx="4114800" cy="4572000"/>
          </a:xfrm>
          <a:prstGeom prst="rect">
            <a:avLst/>
          </a:prstGeom>
          <a:solidFill>
            <a:srgbClr val="FFF0F0"/>
          </a:solidFill>
        </p:spPr>
        <p:txBody>
          <a:bodyPr wrap="non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┌─────────────────────────────┐</a:t>
            </a:r>
            <a:br/>
            <a:r>
              <a:t>│         Qt GUI              │</a:t>
            </a:r>
            <a:br/>
            <a:r>
              <a:t>│  ┌─────────────────────┐    │</a:t>
            </a:r>
            <a:br/>
            <a:r>
              <a:t>│  │    signal emit      │    │</a:t>
            </a:r>
            <a:br/>
            <a:r>
              <a:t>│  └──────────┬──────────┘    │</a:t>
            </a:r>
            <a:br/>
            <a:r>
              <a:t>│             ▼               │</a:t>
            </a:r>
            <a:br/>
            <a:r>
              <a:t>│  ┌─────────────────────┐    │</a:t>
            </a:r>
            <a:br/>
            <a:r>
              <a:t>│  │   CPluginScript     │    │</a:t>
            </a:r>
            <a:br/>
            <a:r>
              <a:t>│  │   (in event loop)   │    │</a:t>
            </a:r>
            <a:br/>
            <a:r>
              <a:t>│  └──────────┬──────────┘    │</a:t>
            </a:r>
            <a:br/>
            <a:r>
              <a:t>│             ▼               │</a:t>
            </a:r>
            <a:br/>
            <a:r>
              <a:t>│  ┌─────────────────────┐    │</a:t>
            </a:r>
            <a:br/>
            <a:r>
              <a:t>│  │   QtSql direct      │◄───┤</a:t>
            </a:r>
            <a:br/>
            <a:r>
              <a:t>│  └─────────────────────┘    │</a:t>
            </a:r>
            <a:br/>
            <a:r>
              <a:t>│             ▼               │</a:t>
            </a:r>
            <a:br/>
            <a:r>
              <a:t>│  ┌─────────────────────┐    │</a:t>
            </a:r>
            <a:br/>
            <a:r>
              <a:t>│  │   signal → GUI      │    │</a:t>
            </a:r>
            <a:br/>
            <a:r>
              <a:t>│  └─────────────────────┘    │</a:t>
            </a:r>
            <a:br/>
            <a:r>
              <a:t>└─────────────────────────────┘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0584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507850"/>
                </a:solidFill>
              </a:defRPr>
            </a:pPr>
            <a:r>
              <a:t>Django (Async, Decoupled)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463040"/>
            <a:ext cx="4114800" cy="4572000"/>
          </a:xfrm>
          <a:prstGeom prst="rect">
            <a:avLst/>
          </a:prstGeom>
          <a:solidFill>
            <a:srgbClr val="F0FFF0"/>
          </a:solidFill>
        </p:spPr>
        <p:txBody>
          <a:bodyPr wrap="non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┌──────────┐    ┌──────────┐</a:t>
            </a:r>
            <a:br/>
            <a:r>
              <a:t>│  React   │    │   CLI    │</a:t>
            </a:r>
            <a:br/>
            <a:r>
              <a:t>│ Frontend │    │  (i2)    │</a:t>
            </a:r>
            <a:br/>
            <a:r>
              <a:t>└────┬─────┘    └────┬─────┘</a:t>
            </a:r>
            <a:br/>
            <a:r>
              <a:t>     │               │</a:t>
            </a:r>
            <a:br/>
            <a:r>
              <a:t>     ▼               ▼</a:t>
            </a:r>
            <a:br/>
            <a:r>
              <a:t>┌─────────────────────────┐</a:t>
            </a:r>
            <a:br/>
            <a:r>
              <a:t>│      REST API           │</a:t>
            </a:r>
            <a:br/>
            <a:r>
              <a:t>│   (Django + DRF)        │</a:t>
            </a:r>
            <a:br/>
            <a:r>
              <a:t>└───────────┬─────────────┘</a:t>
            </a:r>
            <a:br/>
            <a:r>
              <a:t>            ▼</a:t>
            </a:r>
            <a:br/>
            <a:r>
              <a:t>┌─────────────────────────┐</a:t>
            </a:r>
            <a:br/>
            <a:r>
              <a:t>│   asyncio task runner   │</a:t>
            </a:r>
            <a:br/>
            <a:r>
              <a:t>│   (subprocess mgmt)     │</a:t>
            </a:r>
            <a:br/>
            <a:r>
              <a:t>└───────────┬─────────────┘</a:t>
            </a:r>
            <a:br/>
            <a:r>
              <a:t>            ▼</a:t>
            </a:r>
            <a:br/>
            <a:r>
              <a:t>┌─────────────────────────┐</a:t>
            </a:r>
            <a:br/>
            <a:r>
              <a:t>│   Django ORM            │</a:t>
            </a:r>
            <a:br/>
            <a:r>
              <a:t>│   (SQLite/PostgreSQL)   │</a:t>
            </a:r>
            <a:br/>
            <a:r>
              <a:t>└─────────────────────────┘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9AB4C8-9178-4F7A-8404-6890510B5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479160" y="457201"/>
            <a:ext cx="8182230" cy="18326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5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Updated Core Utilities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4CFDFB37-4BC7-42C6-915D-A6609139B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55776" y="2343912"/>
            <a:ext cx="3429000" cy="18288"/>
          </a:xfrm>
          <a:custGeom>
            <a:avLst/>
            <a:gdLst>
              <a:gd name="csX0" fmla="*/ 0 w 3429000"/>
              <a:gd name="csY0" fmla="*/ 0 h 18288"/>
              <a:gd name="csX1" fmla="*/ 685800 w 3429000"/>
              <a:gd name="csY1" fmla="*/ 0 h 18288"/>
              <a:gd name="csX2" fmla="*/ 1371600 w 3429000"/>
              <a:gd name="csY2" fmla="*/ 0 h 18288"/>
              <a:gd name="csX3" fmla="*/ 2057400 w 3429000"/>
              <a:gd name="csY3" fmla="*/ 0 h 18288"/>
              <a:gd name="csX4" fmla="*/ 2674620 w 3429000"/>
              <a:gd name="csY4" fmla="*/ 0 h 18288"/>
              <a:gd name="csX5" fmla="*/ 3429000 w 3429000"/>
              <a:gd name="csY5" fmla="*/ 0 h 18288"/>
              <a:gd name="csX6" fmla="*/ 3429000 w 3429000"/>
              <a:gd name="csY6" fmla="*/ 18288 h 18288"/>
              <a:gd name="csX7" fmla="*/ 2811780 w 3429000"/>
              <a:gd name="csY7" fmla="*/ 18288 h 18288"/>
              <a:gd name="csX8" fmla="*/ 2228850 w 3429000"/>
              <a:gd name="csY8" fmla="*/ 18288 h 18288"/>
              <a:gd name="csX9" fmla="*/ 1543050 w 3429000"/>
              <a:gd name="csY9" fmla="*/ 18288 h 18288"/>
              <a:gd name="csX10" fmla="*/ 925830 w 3429000"/>
              <a:gd name="csY10" fmla="*/ 18288 h 18288"/>
              <a:gd name="csX11" fmla="*/ 0 w 3429000"/>
              <a:gd name="csY11" fmla="*/ 18288 h 18288"/>
              <a:gd name="csX12" fmla="*/ 0 w 342900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29000" h="18288" fill="none" extrusionOk="0">
                <a:moveTo>
                  <a:pt x="0" y="0"/>
                </a:moveTo>
                <a:cubicBezTo>
                  <a:pt x="219865" y="20479"/>
                  <a:pt x="493281" y="26186"/>
                  <a:pt x="685800" y="0"/>
                </a:cubicBezTo>
                <a:cubicBezTo>
                  <a:pt x="878319" y="-26186"/>
                  <a:pt x="1121382" y="-11869"/>
                  <a:pt x="1371600" y="0"/>
                </a:cubicBezTo>
                <a:cubicBezTo>
                  <a:pt x="1621818" y="11869"/>
                  <a:pt x="1878793" y="32281"/>
                  <a:pt x="2057400" y="0"/>
                </a:cubicBezTo>
                <a:cubicBezTo>
                  <a:pt x="2236007" y="-32281"/>
                  <a:pt x="2433797" y="-18251"/>
                  <a:pt x="2674620" y="0"/>
                </a:cubicBezTo>
                <a:cubicBezTo>
                  <a:pt x="2915443" y="18251"/>
                  <a:pt x="3205923" y="-1443"/>
                  <a:pt x="3429000" y="0"/>
                </a:cubicBezTo>
                <a:cubicBezTo>
                  <a:pt x="3429442" y="4516"/>
                  <a:pt x="3428173" y="12266"/>
                  <a:pt x="3429000" y="18288"/>
                </a:cubicBezTo>
                <a:cubicBezTo>
                  <a:pt x="3221081" y="48608"/>
                  <a:pt x="3088001" y="8066"/>
                  <a:pt x="2811780" y="18288"/>
                </a:cubicBezTo>
                <a:cubicBezTo>
                  <a:pt x="2535559" y="28510"/>
                  <a:pt x="2481355" y="24898"/>
                  <a:pt x="2228850" y="18288"/>
                </a:cubicBezTo>
                <a:cubicBezTo>
                  <a:pt x="1976345" y="11679"/>
                  <a:pt x="1807520" y="48356"/>
                  <a:pt x="1543050" y="18288"/>
                </a:cubicBezTo>
                <a:cubicBezTo>
                  <a:pt x="1278580" y="-11780"/>
                  <a:pt x="1181944" y="5123"/>
                  <a:pt x="925830" y="18288"/>
                </a:cubicBezTo>
                <a:cubicBezTo>
                  <a:pt x="669716" y="31453"/>
                  <a:pt x="410304" y="34815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429000" h="18288" stroke="0" extrusionOk="0">
                <a:moveTo>
                  <a:pt x="0" y="0"/>
                </a:moveTo>
                <a:cubicBezTo>
                  <a:pt x="174095" y="-12874"/>
                  <a:pt x="443087" y="-14090"/>
                  <a:pt x="617220" y="0"/>
                </a:cubicBezTo>
                <a:cubicBezTo>
                  <a:pt x="791353" y="14090"/>
                  <a:pt x="1072677" y="8451"/>
                  <a:pt x="1200150" y="0"/>
                </a:cubicBezTo>
                <a:cubicBezTo>
                  <a:pt x="1327623" y="-8451"/>
                  <a:pt x="1526638" y="19866"/>
                  <a:pt x="1817370" y="0"/>
                </a:cubicBezTo>
                <a:cubicBezTo>
                  <a:pt x="2108102" y="-19866"/>
                  <a:pt x="2221289" y="26161"/>
                  <a:pt x="2503170" y="0"/>
                </a:cubicBezTo>
                <a:cubicBezTo>
                  <a:pt x="2785051" y="-26161"/>
                  <a:pt x="3022134" y="39178"/>
                  <a:pt x="3429000" y="0"/>
                </a:cubicBezTo>
                <a:cubicBezTo>
                  <a:pt x="3429577" y="4624"/>
                  <a:pt x="3429819" y="11191"/>
                  <a:pt x="3429000" y="18288"/>
                </a:cubicBezTo>
                <a:cubicBezTo>
                  <a:pt x="3103464" y="593"/>
                  <a:pt x="2887909" y="22940"/>
                  <a:pt x="2743200" y="18288"/>
                </a:cubicBezTo>
                <a:cubicBezTo>
                  <a:pt x="2598491" y="13636"/>
                  <a:pt x="2362615" y="10656"/>
                  <a:pt x="1988820" y="18288"/>
                </a:cubicBezTo>
                <a:cubicBezTo>
                  <a:pt x="1615025" y="25920"/>
                  <a:pt x="1580494" y="3693"/>
                  <a:pt x="1405890" y="18288"/>
                </a:cubicBezTo>
                <a:cubicBezTo>
                  <a:pt x="1231286" y="32884"/>
                  <a:pt x="885259" y="-16285"/>
                  <a:pt x="651510" y="18288"/>
                </a:cubicBezTo>
                <a:cubicBezTo>
                  <a:pt x="417761" y="52861"/>
                  <a:pt x="138362" y="-13856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670438"/>
              </p:ext>
            </p:extLst>
          </p:nvPr>
        </p:nvGraphicFramePr>
        <p:xfrm>
          <a:off x="240030" y="3227187"/>
          <a:ext cx="8661656" cy="289689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35439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88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88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3946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GB" sz="2600"/>
                        <a:t>Function</a:t>
                      </a:r>
                    </a:p>
                  </a:txBody>
                  <a:tcPr marL="167128" marR="167128" marT="83564" marB="83564"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GB" sz="2600"/>
                        <a:t>Legacy</a:t>
                      </a:r>
                    </a:p>
                  </a:txBody>
                  <a:tcPr marL="167128" marR="167128" marT="83564" marB="83564"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GB" sz="2600"/>
                        <a:t>Modern</a:t>
                      </a:r>
                    </a:p>
                  </a:txBody>
                  <a:tcPr marL="167128" marR="167128" marT="83564" marB="8356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823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GB" sz="2200"/>
                        <a:t>Coordinate introspection</a:t>
                      </a:r>
                    </a:p>
                  </a:txBody>
                  <a:tcPr marL="167128" marR="167128" marT="83564" marB="83564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GB" sz="2200"/>
                        <a:t>MMDB</a:t>
                      </a:r>
                    </a:p>
                  </a:txBody>
                  <a:tcPr marL="167128" marR="167128" marT="83564" marB="83564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GB" sz="2200"/>
                        <a:t>Gemmi</a:t>
                      </a:r>
                    </a:p>
                  </a:txBody>
                  <a:tcPr marL="167128" marR="167128" marT="83564" marB="8356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823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GB" sz="2200"/>
                        <a:t>Reflection introspection</a:t>
                      </a:r>
                    </a:p>
                  </a:txBody>
                  <a:tcPr marL="167128" marR="167128" marT="83564" marB="83564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GB" sz="2200"/>
                        <a:t>Clipper</a:t>
                      </a:r>
                    </a:p>
                  </a:txBody>
                  <a:tcPr marL="167128" marR="167128" marT="83564" marB="83564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GB" sz="2200"/>
                        <a:t>Gemmi</a:t>
                      </a:r>
                    </a:p>
                  </a:txBody>
                  <a:tcPr marL="167128" marR="167128" marT="83564" marB="8356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823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GB" sz="2200"/>
                        <a:t>MTZ column operations</a:t>
                      </a:r>
                    </a:p>
                  </a:txBody>
                  <a:tcPr marL="167128" marR="167128" marT="83564" marB="83564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GB" sz="2200"/>
                        <a:t>cmtzsplit, cmtzjoin, cad</a:t>
                      </a:r>
                    </a:p>
                  </a:txBody>
                  <a:tcPr marL="167128" marR="167128" marT="83564" marB="83564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GB" sz="2200"/>
                        <a:t>Gemmi</a:t>
                      </a:r>
                    </a:p>
                  </a:txBody>
                  <a:tcPr marL="167128" marR="167128" marT="83564" marB="8356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823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GB" sz="2200"/>
                        <a:t>French-Wilson statistics</a:t>
                      </a:r>
                    </a:p>
                  </a:txBody>
                  <a:tcPr marL="167128" marR="167128" marT="83564" marB="83564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GB" sz="2200"/>
                        <a:t>ctruncate</a:t>
                      </a:r>
                    </a:p>
                  </a:txBody>
                  <a:tcPr marL="167128" marR="167128" marT="83564" marB="83564"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rPr lang="en-GB" sz="2200"/>
                        <a:t>Servalcat</a:t>
                      </a:r>
                    </a:p>
                  </a:txBody>
                  <a:tcPr marL="167128" marR="167128" marT="83564" marB="8356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630936" y="548640"/>
            <a:ext cx="2700645" cy="543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/>
            </a:pPr>
            <a:r>
              <a:rPr lang="en-US" sz="4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Benefits &amp; Path Forward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sX0" fmla="*/ 0 w 4480560"/>
              <a:gd name="csY0" fmla="*/ 0 h 13716"/>
              <a:gd name="csX1" fmla="*/ 595274 w 4480560"/>
              <a:gd name="csY1" fmla="*/ 0 h 13716"/>
              <a:gd name="csX2" fmla="*/ 1100938 w 4480560"/>
              <a:gd name="csY2" fmla="*/ 0 h 13716"/>
              <a:gd name="csX3" fmla="*/ 1651406 w 4480560"/>
              <a:gd name="csY3" fmla="*/ 0 h 13716"/>
              <a:gd name="csX4" fmla="*/ 2336292 w 4480560"/>
              <a:gd name="csY4" fmla="*/ 0 h 13716"/>
              <a:gd name="csX5" fmla="*/ 2931566 w 4480560"/>
              <a:gd name="csY5" fmla="*/ 0 h 13716"/>
              <a:gd name="csX6" fmla="*/ 3482035 w 4480560"/>
              <a:gd name="csY6" fmla="*/ 0 h 13716"/>
              <a:gd name="csX7" fmla="*/ 4480560 w 4480560"/>
              <a:gd name="csY7" fmla="*/ 0 h 13716"/>
              <a:gd name="csX8" fmla="*/ 4480560 w 4480560"/>
              <a:gd name="csY8" fmla="*/ 13716 h 13716"/>
              <a:gd name="csX9" fmla="*/ 3840480 w 4480560"/>
              <a:gd name="csY9" fmla="*/ 13716 h 13716"/>
              <a:gd name="csX10" fmla="*/ 3290011 w 4480560"/>
              <a:gd name="csY10" fmla="*/ 13716 h 13716"/>
              <a:gd name="csX11" fmla="*/ 2560320 w 4480560"/>
              <a:gd name="csY11" fmla="*/ 13716 h 13716"/>
              <a:gd name="csX12" fmla="*/ 1965046 w 4480560"/>
              <a:gd name="csY12" fmla="*/ 13716 h 13716"/>
              <a:gd name="csX13" fmla="*/ 1459382 w 4480560"/>
              <a:gd name="csY13" fmla="*/ 13716 h 13716"/>
              <a:gd name="csX14" fmla="*/ 774497 w 4480560"/>
              <a:gd name="csY14" fmla="*/ 13716 h 13716"/>
              <a:gd name="csX15" fmla="*/ 0 w 4480560"/>
              <a:gd name="csY15" fmla="*/ 13716 h 13716"/>
              <a:gd name="csX16" fmla="*/ 0 w 4480560"/>
              <a:gd name="csY16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844813" y="552091"/>
            <a:ext cx="4668251" cy="543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900"/>
              <a:t>• PRESERVED: All wrappers, pipelines, crystallographic logic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900"/>
              <a:t>• MODERNIZED: Core utilities updated (Gemmi, Servalcat)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900"/>
              <a:t>• MAINTAINABILITY: Standard frameworks with large communities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900"/>
              <a:t>• TESTABILITY: pytest, Jest, REST mocking - easier CI/CD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900"/>
              <a:t>• EXTENSIBILITY: Modular architecture, clear separation of concerns</a:t>
            </a:r>
          </a:p>
          <a:p>
            <a:pPr indent="-228600" defTabSz="914400">
              <a:lnSpc>
                <a:spcPct val="90000"/>
              </a:lnSpc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pPr>
            <a:r>
              <a:rPr lang="en-US" sz="1900"/>
              <a:t>• PATH: Gradual migration via baselayer compatibility layer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1289</Words>
  <Application>Microsoft Macintosh PowerPoint</Application>
  <PresentationFormat>On-screen Show (4:3)</PresentationFormat>
  <Paragraphs>84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Noble</cp:lastModifiedBy>
  <cp:revision>2</cp:revision>
  <dcterms:created xsi:type="dcterms:W3CDTF">2013-01-27T09:14:16Z</dcterms:created>
  <dcterms:modified xsi:type="dcterms:W3CDTF">2025-12-07T12:54:05Z</dcterms:modified>
  <cp:category/>
</cp:coreProperties>
</file>