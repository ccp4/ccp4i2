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CCP4i2: Qt to Django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Modernizing Crystallographic Computing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310E38-32E0-95EC-F95D-0C179216A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72408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696705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81254673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7482135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26199505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CCP4 and blooming interfaces 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CCP4i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CCP4i2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CCP4Cloud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1487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Tcl</a:t>
                      </a:r>
                      <a:r>
                        <a:rPr lang="en-US" sz="2400" dirty="0"/>
                        <a:t>/Tk (1991)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Qt (1990 !)</a:t>
                      </a:r>
                    </a:p>
                    <a:p>
                      <a:pPr algn="ctr"/>
                      <a:r>
                        <a:rPr lang="en-US" sz="2400" dirty="0"/>
                        <a:t>EOL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JQueryUI</a:t>
                      </a:r>
                      <a:r>
                        <a:rPr lang="en-US" sz="2400" dirty="0"/>
                        <a:t> (2007)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98959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Data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Mini MTZ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Tree-based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42512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Main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Desktop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Desktop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8174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Intended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767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C143E6A-0F96-9887-5C14-C7C6E0E72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66" y="584791"/>
            <a:ext cx="1036759" cy="10693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A43127-CCD4-D41C-230E-BA21BD45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082" y="580227"/>
            <a:ext cx="1036759" cy="10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6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Challenge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Legacy Qt architecture: tightly-coupled GUI + database + business logic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PySide2/Qt bindings increasingly difficult to maintain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Procedural GUI code hard to test, extend, and onboard new developers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10+ years of crystallographic wrappers &amp; pipelines to preserve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KEY GOAL: Reduce long-term support burden while serving existing users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119442"/>
              </p:ext>
            </p:extLst>
          </p:nvPr>
        </p:nvGraphicFramePr>
        <p:xfrm>
          <a:off x="859610" y="2633472"/>
          <a:ext cx="7422496" cy="358635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4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59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400"/>
                        <a:t>Layer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400"/>
                        <a:t>Legacy (Qt)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400"/>
                        <a:t>Modern (Django)</a:t>
                      </a:r>
                    </a:p>
                  </a:txBody>
                  <a:tcPr marL="109563" marR="109563" marT="54781" marB="547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Database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QtSql (raw SQL)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Django ORM</a:t>
                      </a:r>
                    </a:p>
                  </a:txBody>
                  <a:tcPr marL="109563" marR="109563" marT="54781" marB="5478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API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None (in-process)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REST API (DRF)</a:t>
                      </a:r>
                    </a:p>
                  </a:txBody>
                  <a:tcPr marL="109563" marR="109563" marT="54781" marB="5478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7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Frontend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Qt Widgets (procedural)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React (declarative)</a:t>
                      </a:r>
                    </a:p>
                  </a:txBody>
                  <a:tcPr marL="109563" marR="109563" marT="54781" marB="5478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Events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Signals / Slots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asyncio</a:t>
                      </a:r>
                    </a:p>
                  </a:txBody>
                  <a:tcPr marL="109563" marR="109563" marT="54781" marB="5478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07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Tooling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Qt MOC, custom build</a:t>
                      </a:r>
                    </a:p>
                  </a:txBody>
                  <a:tcPr marL="109563" marR="109563" marT="54781" marB="54781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npm, pytest, TypeScript</a:t>
                      </a:r>
                    </a:p>
                  </a:txBody>
                  <a:tcPr marL="109563" marR="109563" marT="54781" marB="5478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Database: QtSql vs Django 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050"/>
                </a:solidFill>
              </a:defRPr>
            </a:pPr>
            <a:r>
              <a:t>Before (Imperative SQL)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4572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Manual query construction</a:t>
            </a:r>
            <a:br/>
            <a:r>
              <a:t>db = QSqlDatabase.addDatabase("QSQLITE")</a:t>
            </a:r>
            <a:br/>
            <a:r>
              <a:t>db.setDatabaseName("project.db")</a:t>
            </a:r>
            <a:br/>
            <a:r>
              <a:t>db.open()</a:t>
            </a:r>
            <a:br/>
            <a:br/>
            <a:r>
              <a:t>query = QSqlQuery()</a:t>
            </a:r>
            <a:br/>
            <a:r>
              <a:t>query.exec_("""</a:t>
            </a:r>
            <a:br/>
            <a:r>
              <a:t>    SELECT * FROM jobs</a:t>
            </a:r>
            <a:br/>
            <a:r>
              <a:t>    WHERE status = 1</a:t>
            </a:r>
            <a:br/>
            <a:r>
              <a:t>""")</a:t>
            </a:r>
            <a:br/>
            <a:br/>
            <a:r>
              <a:t>while query.next():</a:t>
            </a:r>
            <a:br/>
            <a:r>
              <a:t>    job_id = query.value(0)</a:t>
            </a:r>
            <a:br/>
            <a:r>
              <a:t>    name = query.value(1)</a:t>
            </a:r>
            <a:br/>
            <a:r>
              <a:t>    # Manual type handling...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50"/>
                </a:solidFill>
              </a:defRPr>
            </a:pPr>
            <a:r>
              <a:t>After (Declarative 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Type-safe, optimized queries</a:t>
            </a:r>
            <a:br/>
            <a:r>
              <a:t>from ccp4x.db import models</a:t>
            </a:r>
            <a:br/>
            <a:br/>
            <a:r>
              <a:t># Automatic query optimization</a:t>
            </a:r>
            <a:br/>
            <a:r>
              <a:t>jobs = models.Job.objects.filter(</a:t>
            </a:r>
            <a:br/>
            <a:r>
              <a:t>    status=1</a:t>
            </a:r>
            <a:br/>
            <a:r>
              <a:t>).select_related('project')</a:t>
            </a:r>
            <a:br/>
            <a:br/>
            <a:r>
              <a:t>for job in jobs:</a:t>
            </a:r>
            <a:br/>
            <a:r>
              <a:t>    print(job.uuid)  # Type-safe</a:t>
            </a:r>
            <a:br/>
            <a:r>
              <a:t>    print(job.project.name)  # No N+1</a:t>
            </a:r>
            <a:br/>
            <a:br/>
            <a:r>
              <a:t># Migrations handled automatically</a:t>
            </a:r>
            <a:br/>
            <a:r>
              <a:t># python manage.py migrate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GUI: Procedural Qt vs Declarative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050"/>
                </a:solidFill>
              </a:defRPr>
            </a:pPr>
            <a:r>
              <a:t>Procedural Qt (*_gui.py)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4572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phaser_pipeline_gui.py</a:t>
            </a:r>
            <a:br/>
            <a:r>
              <a:t>class phaser_pipeline_gui(CTaskWidget):</a:t>
            </a:r>
            <a:br/>
            <a:br/>
            <a:r>
              <a:t>  def drawContents(self):</a:t>
            </a:r>
            <a:br/>
            <a:r>
              <a:t>    self.openFolder(title='Input')</a:t>
            </a:r>
            <a:br/>
            <a:r>
              <a:t>    self.drawReflectionPanel()</a:t>
            </a:r>
            <a:br/>
            <a:r>
              <a:t>    self.openFolder(title='Keywords')</a:t>
            </a:r>
            <a:br/>
            <a:br/>
            <a:r>
              <a:t>  def drawReflectionPanel(self):</a:t>
            </a:r>
            <a:br/>
            <a:r>
              <a:t>    self.createLine(['subtitle', 'Reflections'])</a:t>
            </a:r>
            <a:br/>
            <a:r>
              <a:t>    self.openSubFrame(frame=True)</a:t>
            </a:r>
            <a:br/>
            <a:r>
              <a:t>    self.createLine(['widget', 'F_SIGF'])</a:t>
            </a:r>
            <a:br/>
            <a:r>
              <a:t>    self.createLine([</a:t>
            </a:r>
            <a:br/>
            <a:r>
              <a:t>      'label','Resolution',</a:t>
            </a:r>
            <a:br/>
            <a:r>
              <a:t>      'widget', 'RESOLUTION_LOW',</a:t>
            </a:r>
            <a:br/>
            <a:r>
              <a:t>      'widget', 'RESOLUTION_HIGH'</a:t>
            </a:r>
            <a:br/>
            <a:r>
              <a:t>    ])</a:t>
            </a:r>
            <a:br/>
            <a:r>
              <a:t>    # Manual signal connection</a:t>
            </a:r>
            <a:br/>
            <a:r>
              <a:t>    self.container.inputData.F_SIGF\</a:t>
            </a:r>
            <a:br/>
            <a:r>
              <a:t>      .dataChanged.connect(self.update)</a:t>
            </a:r>
            <a:br/>
            <a:r>
              <a:t>    self.closeSubFrame()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50"/>
                </a:solidFill>
              </a:defRPr>
            </a:pPr>
            <a:r>
              <a:t>Declarative React (Modern)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// aimless_pipe.tsx</a:t>
            </a:r>
            <a:br/>
            <a:r>
              <a:t>export const AimlessPipeInterface = ({job}) =&gt; {</a:t>
            </a:r>
            <a:br/>
            <a:r>
              <a:t>  return (</a:t>
            </a:r>
            <a:br/>
            <a:r>
              <a:t>    &lt;Stack spacing={2}&gt;</a:t>
            </a:r>
            <a:br/>
            <a:r>
              <a:t>      &lt;CCP4i2TaskElement</a:t>
            </a:r>
            <a:br/>
            <a:r>
              <a:t>        job={job}</a:t>
            </a:r>
            <a:br/>
            <a:r>
              <a:t>        itemName="inputData.F_SIGF"</a:t>
            </a:r>
            <a:br/>
            <a:r>
              <a:t>      /&gt;</a:t>
            </a:r>
            <a:br/>
            <a:r>
              <a:t>      &lt;CCP4i2TaskElement</a:t>
            </a:r>
            <a:br/>
            <a:r>
              <a:t>        job={job}</a:t>
            </a:r>
            <a:br/>
            <a:r>
              <a:t>        itemName="inputData.RESOLUTION"</a:t>
            </a:r>
            <a:br/>
            <a:r>
              <a:t>        qualifiers={{guiLabel: "Resolution"}}</a:t>
            </a:r>
            <a:br/>
            <a:r>
              <a:t>      /&gt;</a:t>
            </a:r>
            <a:br/>
            <a:r>
              <a:t>    &lt;/Stack&gt;</a:t>
            </a:r>
            <a:br/>
            <a:r>
              <a:t>  );</a:t>
            </a:r>
            <a:br/>
            <a:r>
              <a:t>};</a:t>
            </a:r>
            <a:br/>
            <a:br/>
            <a:r>
              <a:t>// Components auto-render from schema</a:t>
            </a:r>
            <a:br/>
            <a:r>
              <a:t>// State managed by React hooks</a:t>
            </a:r>
            <a:br/>
            <a:r>
              <a:t>// REST API for data fetching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CLI: i2run &amp; i2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i2run: Task execution compatible with legacy scripts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i2: Modern resource-oriented interface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Django management commands for administration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2000"/>
            </a:pPr>
            <a:endParaRPr lang="en-US" sz="19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5484194" cy="2677656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latin typeface="Courier New"/>
              </a:defRPr>
            </a:pPr>
            <a:r>
              <a:rPr lang="en-GB" sz="1200"/>
              <a:t># Task execution (both modes)</a:t>
            </a:r>
            <a:br>
              <a:rPr lang="en-GB" sz="1200"/>
            </a:br>
            <a:r>
              <a:rPr lang="en-GB" sz="1200"/>
              <a:t>i2run phaser_pipeline --XYZIN model.pdb --HKLIN data.mtz</a:t>
            </a:r>
            <a:br>
              <a:rPr lang="en-GB" sz="1200"/>
            </a:br>
            <a:br>
              <a:rPr lang="en-GB" sz="1200"/>
            </a:br>
            <a:r>
              <a:rPr lang="en-GB" sz="1200"/>
              <a:t># Modern resource management (Django mode)</a:t>
            </a:r>
            <a:br>
              <a:rPr lang="en-GB" sz="1200"/>
            </a:br>
            <a:r>
              <a:rPr lang="en-GB" sz="1200"/>
              <a:t>i2 projects list                    # List all projects</a:t>
            </a:r>
            <a:br>
              <a:rPr lang="en-GB" sz="1200"/>
            </a:br>
            <a:r>
              <a:rPr lang="en-GB" sz="1200"/>
              <a:t>i2 projects create "New Project"    # Create project</a:t>
            </a:r>
            <a:br>
              <a:rPr lang="en-GB" sz="1200"/>
            </a:br>
            <a:r>
              <a:rPr lang="en-GB" sz="1200"/>
              <a:t>i2 jobs 1 tree                      # Show job tree</a:t>
            </a:r>
            <a:br>
              <a:rPr lang="en-GB" sz="1200"/>
            </a:br>
            <a:r>
              <a:rPr lang="en-GB" sz="1200"/>
              <a:t>i2 run phaser_pipeline [opts]       # i2run compatible</a:t>
            </a:r>
            <a:br>
              <a:rPr lang="en-GB" sz="1200"/>
            </a:br>
            <a:r>
              <a:rPr lang="en-GB" sz="1200"/>
              <a:t>i2 files 42 list                    # List job files</a:t>
            </a:r>
            <a:br>
              <a:rPr lang="en-GB" sz="1200"/>
            </a:br>
            <a:r>
              <a:rPr lang="en-GB" sz="1200"/>
              <a:t>i2 report 42                        # Generate report</a:t>
            </a:r>
            <a:br>
              <a:rPr lang="en-GB" sz="1200"/>
            </a:br>
            <a:br>
              <a:rPr lang="en-GB" sz="1200"/>
            </a:br>
            <a:r>
              <a:rPr lang="en-GB" sz="1200"/>
              <a:t># Django management</a:t>
            </a:r>
            <a:br>
              <a:rPr lang="en-GB" sz="1200"/>
            </a:br>
            <a:r>
              <a:rPr lang="en-GB" sz="1200"/>
              <a:t>python manage.py migrate            # Database migrations</a:t>
            </a:r>
            <a:br>
              <a:rPr lang="en-GB" sz="1200"/>
            </a:br>
            <a:r>
              <a:rPr lang="en-GB" sz="1200"/>
              <a:t>python manage.py createproject      # Create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Frontend: React / Electron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React 19 + TypeScript - type-safe, component-based architecture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Moorhen integration for 3D structure visualization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Standard tooling: </a:t>
            </a:r>
            <a:r>
              <a:rPr lang="en-US" sz="1900" dirty="0" err="1"/>
              <a:t>npm</a:t>
            </a:r>
            <a:r>
              <a:rPr lang="en-US" sz="1900" dirty="0"/>
              <a:t>, </a:t>
            </a:r>
            <a:r>
              <a:rPr lang="en-US" sz="1900" dirty="0" err="1"/>
              <a:t>ESLint</a:t>
            </a:r>
            <a:r>
              <a:rPr lang="en-US" sz="1900" dirty="0"/>
              <a:t>, Prettier, Jest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Easier onboarding - widely-known frameworks and patterns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 dirty="0"/>
              <a:t>Composable, testable components with clear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777" y="4018761"/>
            <a:ext cx="3631122" cy="2839239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latin typeface="Courier New"/>
              </a:defRPr>
            </a:pPr>
            <a:r>
              <a:rPr lang="en-GB" sz="1050" dirty="0"/>
              <a:t>// TypeScript models mirror Django</a:t>
            </a:r>
            <a:br>
              <a:rPr lang="en-GB" sz="1050" dirty="0"/>
            </a:br>
            <a:r>
              <a:rPr lang="en-GB" sz="1050" dirty="0"/>
              <a:t>interface Job {</a:t>
            </a:r>
            <a:br>
              <a:rPr lang="en-GB" sz="1050" dirty="0"/>
            </a:br>
            <a:r>
              <a:rPr lang="en-GB" sz="1050" dirty="0"/>
              <a:t>  </a:t>
            </a:r>
            <a:r>
              <a:rPr lang="en-GB" sz="1050" dirty="0" err="1"/>
              <a:t>uuid</a:t>
            </a:r>
            <a:r>
              <a:rPr lang="en-GB" sz="1050" dirty="0"/>
              <a:t>: string;</a:t>
            </a:r>
            <a:br>
              <a:rPr lang="en-GB" sz="1050" dirty="0"/>
            </a:br>
            <a:r>
              <a:rPr lang="en-GB" sz="1050" dirty="0"/>
              <a:t>  status: </a:t>
            </a:r>
            <a:r>
              <a:rPr lang="en-GB" sz="1050" dirty="0" err="1"/>
              <a:t>JobStatus</a:t>
            </a:r>
            <a:r>
              <a:rPr lang="en-GB" sz="1050" dirty="0"/>
              <a:t>;</a:t>
            </a:r>
            <a:br>
              <a:rPr lang="en-GB" sz="1050" dirty="0"/>
            </a:br>
            <a:r>
              <a:rPr lang="en-GB" sz="1050" dirty="0"/>
              <a:t>  project: Project;</a:t>
            </a:r>
            <a:br>
              <a:rPr lang="en-GB" sz="1050" dirty="0"/>
            </a:br>
            <a:r>
              <a:rPr lang="en-GB" sz="1050" dirty="0"/>
              <a:t>  </a:t>
            </a:r>
            <a:r>
              <a:rPr lang="en-GB" sz="1050" dirty="0" err="1"/>
              <a:t>taskname</a:t>
            </a:r>
            <a:r>
              <a:rPr lang="en-GB" sz="1050" dirty="0"/>
              <a:t>: string;</a:t>
            </a:r>
            <a:br>
              <a:rPr lang="en-GB" sz="1050" dirty="0"/>
            </a:br>
            <a:r>
              <a:rPr lang="en-GB" sz="1050" dirty="0"/>
              <a:t>}</a:t>
            </a:r>
            <a:br>
              <a:rPr lang="en-GB" sz="1050" dirty="0"/>
            </a:br>
            <a:br>
              <a:rPr lang="en-GB" sz="1050" dirty="0"/>
            </a:br>
            <a:r>
              <a:rPr lang="en-GB" sz="1050" dirty="0"/>
              <a:t>// React hooks for data fetching</a:t>
            </a:r>
            <a:br>
              <a:rPr lang="en-GB" sz="1050" dirty="0"/>
            </a:br>
            <a:r>
              <a:rPr lang="en-GB" sz="1050" dirty="0" err="1"/>
              <a:t>const</a:t>
            </a:r>
            <a:r>
              <a:rPr lang="en-GB" sz="1050" dirty="0"/>
              <a:t> { job, mutate } = </a:t>
            </a:r>
            <a:r>
              <a:rPr lang="en-GB" sz="1050" dirty="0" err="1"/>
              <a:t>useJob</a:t>
            </a:r>
            <a:r>
              <a:rPr lang="en-GB" sz="1050" dirty="0"/>
              <a:t>(</a:t>
            </a:r>
            <a:r>
              <a:rPr lang="en-GB" sz="1050" dirty="0" err="1"/>
              <a:t>jobId</a:t>
            </a:r>
            <a:r>
              <a:rPr lang="en-GB" sz="1050" dirty="0"/>
              <a:t>);</a:t>
            </a:r>
            <a:br>
              <a:rPr lang="en-GB" sz="1050" dirty="0"/>
            </a:br>
            <a:r>
              <a:rPr lang="en-GB" sz="1050" dirty="0" err="1"/>
              <a:t>const</a:t>
            </a:r>
            <a:r>
              <a:rPr lang="en-GB" sz="1050" dirty="0"/>
              <a:t> { data: files } = </a:t>
            </a:r>
            <a:r>
              <a:rPr lang="en-GB" sz="1050" dirty="0" err="1"/>
              <a:t>useJobFiles</a:t>
            </a:r>
            <a:r>
              <a:rPr lang="en-GB" sz="1050" dirty="0"/>
              <a:t>(</a:t>
            </a:r>
            <a:r>
              <a:rPr lang="en-GB" sz="1050" dirty="0" err="1"/>
              <a:t>jobId</a:t>
            </a:r>
            <a:r>
              <a:rPr lang="en-GB" sz="1050" dirty="0"/>
              <a:t>);</a:t>
            </a:r>
            <a:br>
              <a:rPr lang="en-GB" sz="1050" dirty="0"/>
            </a:br>
            <a:br>
              <a:rPr lang="en-GB" sz="1050" dirty="0"/>
            </a:br>
            <a:r>
              <a:rPr lang="en-GB" sz="1050" dirty="0"/>
              <a:t>// Declarative UI composition</a:t>
            </a:r>
            <a:br>
              <a:rPr lang="en-GB" sz="1050" dirty="0"/>
            </a:br>
            <a:r>
              <a:rPr lang="en-GB" sz="1050" dirty="0"/>
              <a:t>&lt;</a:t>
            </a:r>
            <a:r>
              <a:rPr lang="en-GB" sz="1050" dirty="0" err="1"/>
              <a:t>JobView</a:t>
            </a:r>
            <a:r>
              <a:rPr lang="en-GB" sz="1050" dirty="0"/>
              <a:t> job={job}&gt;</a:t>
            </a:r>
            <a:br>
              <a:rPr lang="en-GB" sz="1050" dirty="0"/>
            </a:br>
            <a:r>
              <a:rPr lang="en-GB" sz="1050" dirty="0"/>
              <a:t>  &lt;</a:t>
            </a:r>
            <a:r>
              <a:rPr lang="en-GB" sz="1050" dirty="0" err="1"/>
              <a:t>TaskInterface</a:t>
            </a:r>
            <a:r>
              <a:rPr lang="en-GB" sz="1050" dirty="0"/>
              <a:t> /&gt;</a:t>
            </a:r>
            <a:br>
              <a:rPr lang="en-GB" sz="1050" dirty="0"/>
            </a:br>
            <a:r>
              <a:rPr lang="en-GB" sz="1050" dirty="0"/>
              <a:t>  &lt;</a:t>
            </a:r>
            <a:r>
              <a:rPr lang="en-GB" sz="1050" dirty="0" err="1"/>
              <a:t>MoorhenViewer</a:t>
            </a:r>
            <a:r>
              <a:rPr lang="en-GB" sz="1050" dirty="0"/>
              <a:t> structure={</a:t>
            </a:r>
            <a:r>
              <a:rPr lang="en-GB" sz="1050" dirty="0" err="1"/>
              <a:t>outputPdb</a:t>
            </a:r>
            <a:r>
              <a:rPr lang="en-GB" sz="1050" dirty="0"/>
              <a:t>} /&gt;</a:t>
            </a:r>
            <a:br>
              <a:rPr lang="en-GB" sz="1050" dirty="0"/>
            </a:br>
            <a:r>
              <a:rPr lang="en-GB" sz="1050" dirty="0"/>
              <a:t>&lt;/</a:t>
            </a:r>
            <a:r>
              <a:rPr lang="en-GB" sz="1050" dirty="0" err="1"/>
              <a:t>JobView</a:t>
            </a:r>
            <a:r>
              <a:rPr lang="en-GB" sz="1050" dirty="0"/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050"/>
                </a:solidFill>
              </a:defRPr>
            </a:pPr>
            <a:r>
              <a:t>Qt (Synchronous, Coupled)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4572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┌─────────────────────────────┐</a:t>
            </a:r>
            <a:br/>
            <a:r>
              <a:t>│         Qt GUI              │</a:t>
            </a:r>
            <a:br/>
            <a:r>
              <a:t>│  ┌─────────────────────┐    │</a:t>
            </a:r>
            <a:br/>
            <a:r>
              <a:t>│  │    signal emit      │    │</a:t>
            </a:r>
            <a:br/>
            <a:r>
              <a:t>│  └──────────┬──────────┘    │</a:t>
            </a:r>
            <a:br/>
            <a:r>
              <a:t>│             ▼               │</a:t>
            </a:r>
            <a:br/>
            <a:r>
              <a:t>│  ┌─────────────────────┐    │</a:t>
            </a:r>
            <a:br/>
            <a:r>
              <a:t>│  │   CPluginScript     │    │</a:t>
            </a:r>
            <a:br/>
            <a:r>
              <a:t>│  │   (in event loop)   │    │</a:t>
            </a:r>
            <a:br/>
            <a:r>
              <a:t>│  └──────────┬──────────┘    │</a:t>
            </a:r>
            <a:br/>
            <a:r>
              <a:t>│             ▼               │</a:t>
            </a:r>
            <a:br/>
            <a:r>
              <a:t>│  ┌─────────────────────┐    │</a:t>
            </a:r>
            <a:br/>
            <a:r>
              <a:t>│  │   QtSql direct      │◄───┤</a:t>
            </a:r>
            <a:br/>
            <a:r>
              <a:t>│  └─────────────────────┘    │</a:t>
            </a:r>
            <a:br/>
            <a:r>
              <a:t>│             ▼               │</a:t>
            </a:r>
            <a:br/>
            <a:r>
              <a:t>│  ┌─────────────────────┐    │</a:t>
            </a:r>
            <a:br/>
            <a:r>
              <a:t>│  │   signal → GUI      │    │</a:t>
            </a:r>
            <a:br/>
            <a:r>
              <a:t>│  └─────────────────────┘    │</a:t>
            </a:r>
            <a:br/>
            <a:r>
              <a:t>└─────────────────────────────┘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50"/>
                </a:solidFill>
              </a:defRPr>
            </a:pPr>
            <a:r>
              <a:t>Django (Async, Decoupled)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┌──────────┐    ┌──────────┐</a:t>
            </a:r>
            <a:br/>
            <a:r>
              <a:t>│  React   │    │   CLI    │</a:t>
            </a:r>
            <a:br/>
            <a:r>
              <a:t>│ Frontend │    │  (i2)    │</a:t>
            </a:r>
            <a:br/>
            <a:r>
              <a:t>└────┬─────┘    └────┬─────┘</a:t>
            </a:r>
            <a:br/>
            <a:r>
              <a:t>     │               │</a:t>
            </a:r>
            <a:br/>
            <a:r>
              <a:t>     ▼               ▼</a:t>
            </a:r>
            <a:br/>
            <a:r>
              <a:t>┌─────────────────────────┐</a:t>
            </a:r>
            <a:br/>
            <a:r>
              <a:t>│      REST API           │</a:t>
            </a:r>
            <a:br/>
            <a:r>
              <a:t>│   (Django + DRF)        │</a:t>
            </a:r>
            <a:br/>
            <a:r>
              <a:t>└───────────┬─────────────┘</a:t>
            </a:r>
            <a:br/>
            <a:r>
              <a:t>            ▼</a:t>
            </a:r>
            <a:br/>
            <a:r>
              <a:t>┌─────────────────────────┐</a:t>
            </a:r>
            <a:br/>
            <a:r>
              <a:t>│   asyncio task runner   │</a:t>
            </a:r>
            <a:br/>
            <a:r>
              <a:t>│   (subprocess mgmt)     │</a:t>
            </a:r>
            <a:br/>
            <a:r>
              <a:t>└───────────┬─────────────┘</a:t>
            </a:r>
            <a:br/>
            <a:r>
              <a:t>            ▼</a:t>
            </a:r>
            <a:br/>
            <a:r>
              <a:t>┌─────────────────────────┐</a:t>
            </a:r>
            <a:br/>
            <a:r>
              <a:t>│   Django ORM            │</a:t>
            </a:r>
            <a:br/>
            <a:r>
              <a:t>│   (SQLite/PostgreSQL)   │</a:t>
            </a:r>
            <a:br/>
            <a:r>
              <a:t>└─────────────────────────┘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Updated Core Utilities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516323"/>
              </p:ext>
            </p:extLst>
          </p:nvPr>
        </p:nvGraphicFramePr>
        <p:xfrm>
          <a:off x="240030" y="2978204"/>
          <a:ext cx="8661656" cy="289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94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600"/>
                        <a:t>Function</a:t>
                      </a:r>
                    </a:p>
                  </a:txBody>
                  <a:tcPr marL="167128" marR="167128" marT="83564" marB="83564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600"/>
                        <a:t>Legacy</a:t>
                      </a:r>
                    </a:p>
                  </a:txBody>
                  <a:tcPr marL="167128" marR="167128" marT="83564" marB="83564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600"/>
                        <a:t>Modern</a:t>
                      </a:r>
                    </a:p>
                  </a:txBody>
                  <a:tcPr marL="167128" marR="167128" marT="83564" marB="83564"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Coordinate introspection</a:t>
                      </a:r>
                    </a:p>
                  </a:txBody>
                  <a:tcPr marL="167128" marR="167128" marT="83564" marB="8356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MMDB</a:t>
                      </a:r>
                    </a:p>
                  </a:txBody>
                  <a:tcPr marL="167128" marR="167128" marT="83564" marB="8356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Gemmi</a:t>
                      </a:r>
                    </a:p>
                  </a:txBody>
                  <a:tcPr marL="167128" marR="167128" marT="83564" marB="83564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Reflection introspection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Clipper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Gemmi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MTZ column operations</a:t>
                      </a:r>
                    </a:p>
                  </a:txBody>
                  <a:tcPr marL="167128" marR="167128" marT="83564" marB="8356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cmtzsplit, cmtzjoin, cad</a:t>
                      </a:r>
                    </a:p>
                  </a:txBody>
                  <a:tcPr marL="167128" marR="167128" marT="83564" marB="8356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Gemmi</a:t>
                      </a:r>
                    </a:p>
                  </a:txBody>
                  <a:tcPr marL="167128" marR="167128" marT="83564" marB="83564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French-Wilson statistics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ctruncate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Servalcat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 &amp; Path Forward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PRESERVED: All wrappers, pipelines, crystallographic logic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MODERNIZED: Core utilities updated (</a:t>
            </a:r>
            <a:r>
              <a:rPr lang="en-US" sz="2000" dirty="0" err="1"/>
              <a:t>Gemmi</a:t>
            </a:r>
            <a:r>
              <a:rPr lang="en-US" sz="2000" dirty="0"/>
              <a:t>, </a:t>
            </a:r>
            <a:r>
              <a:rPr lang="en-US" sz="2000" dirty="0" err="1"/>
              <a:t>Servalcat</a:t>
            </a:r>
            <a:r>
              <a:rPr lang="en-US" sz="2000" dirty="0"/>
              <a:t>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MAINTAINABILITY: Standard frameworks with large communities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TESTABILITY: </a:t>
            </a:r>
            <a:r>
              <a:rPr lang="en-US" sz="2000" dirty="0" err="1"/>
              <a:t>pytest</a:t>
            </a:r>
            <a:r>
              <a:rPr lang="en-US" sz="2000" dirty="0"/>
              <a:t>, Jest, REST mocking - easier CI/CD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EXTENSIBILITY: Modular architecture, clear separation of concerns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PATH: Gradual migration via </a:t>
            </a:r>
            <a:r>
              <a:rPr lang="en-US" sz="2000" dirty="0" err="1"/>
              <a:t>baselayer</a:t>
            </a:r>
            <a:r>
              <a:rPr lang="en-US" sz="2000" dirty="0"/>
              <a:t> compatibility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1192</Words>
  <Application>Microsoft Macintosh PowerPoint</Application>
  <PresentationFormat>On-screen Show (4:3)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Noble</cp:lastModifiedBy>
  <cp:revision>3</cp:revision>
  <dcterms:created xsi:type="dcterms:W3CDTF">2013-01-27T09:14:16Z</dcterms:created>
  <dcterms:modified xsi:type="dcterms:W3CDTF">2025-12-09T12:11:15Z</dcterms:modified>
  <cp:category/>
</cp:coreProperties>
</file>